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조회수</c:v>
                </c:pt>
              </c:strCache>
            </c:strRef>
          </c:tx>
          <c:spPr>
            <a:solidFill>
              <a:srgbClr val="1E5BB8"/>
            </a:solidFill>
            <a:ln w="25400" cap="flat">
              <a:solidFill>
                <a:srgbClr val="1E5BB8"/>
              </a:solidFill>
              <a:prstDash val="solid"/>
              <a:round/>
            </a:ln>
            <a:effectLst/>
          </c:spPr>
          <c:invertIfNegative val="0"/>
          <c:dLbls>
            <c:numFmt formatCode="#,##0.##" sourceLinked="0"/>
            <c:txPr>
              <a:bodyPr/>
              <a:lstStyle/>
              <a:p>
                <a:pPr>
                  <a:defRPr b="1" i="0" strike="noStrike" sz="960" u="none">
                    <a:solidFill>
                      <a:srgbClr val="1A2438"/>
                    </a:solidFill>
                    <a:latin typeface="Pretendard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E5BB8"/>
              </a:solidFill>
              <a:ln w="19050" cap="flat">
                <a:solidFill>
                  <a:srgbClr val="1E5B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5월</c:v>
                  </c:pt>
                  <c:pt idx="1">
                    <c:v>6월</c:v>
                  </c:pt>
                  <c:pt idx="2">
                    <c:v>7월</c:v>
                  </c:pt>
                  <c:pt idx="3">
                    <c:v>8월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28</c:v>
                </c:pt>
                <c:pt idx="2">
                  <c:v>31</c:v>
                </c:pt>
                <c:pt idx="3">
                  <c:v>42</c:v>
                </c:pt>
              </c:numCache>
            </c:numRef>
          </c:val>
          <c:smooth val="0"/>
        </c:ser>
        <c:dLbls>
          <c:numFmt formatCode="#,##0.##" sourceLinked="0"/>
          <c:txPr>
            <a:bodyPr/>
            <a:lstStyle/>
            <a:p>
              <a:pPr>
                <a:defRPr b="1" i="0" strike="noStrike" sz="960" u="none">
                  <a:solidFill>
                    <a:srgbClr val="1A2438"/>
                  </a:solidFill>
                  <a:latin typeface="Pretendard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FD8"/>
            </a:solidFill>
            <a:prstDash val="solid"/>
            <a:round/>
          </a:ln>
        </c:spPr>
        <c:txPr>
          <a:bodyPr/>
          <a:lstStyle/>
          <a:p>
            <a:pPr>
              <a:defRPr sz="960" b="0" i="0" u="none" strike="noStrike">
                <a:solidFill>
                  <a:srgbClr val="4A5568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7FA"/>
        </a:solidFill>
        <a:ln>
          <a:noFill/>
        </a:ln>
        <a:effectLst/>
      </c:spPr>
    </c:plotArea>
    <c:plotVisOnly val="1"/>
    <c:dispBlanksAs val="span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도달</c:v>
                </c:pt>
              </c:strCache>
            </c:strRef>
          </c:tx>
          <c:spPr>
            <a:solidFill>
              <a:srgbClr val="1E5BB8"/>
            </a:solidFill>
            <a:ln w="25400" cap="flat">
              <a:solidFill>
                <a:srgbClr val="1E5BB8"/>
              </a:solidFill>
              <a:prstDash val="solid"/>
              <a:round/>
            </a:ln>
            <a:effectLst/>
          </c:spPr>
          <c:invertIfNegative val="0"/>
          <c:dLbls>
            <c:numFmt formatCode="#,##0.##" sourceLinked="0"/>
            <c:txPr>
              <a:bodyPr/>
              <a:lstStyle/>
              <a:p>
                <a:pPr>
                  <a:defRPr b="1" i="0" strike="noStrike" sz="960" u="none">
                    <a:solidFill>
                      <a:srgbClr val="1A2438"/>
                    </a:solidFill>
                    <a:latin typeface="Pretendard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E5BB8"/>
              </a:solidFill>
              <a:ln w="19050" cap="flat">
                <a:solidFill>
                  <a:srgbClr val="1E5B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5월</c:v>
                  </c:pt>
                  <c:pt idx="1">
                    <c:v>6월</c:v>
                  </c:pt>
                  <c:pt idx="2">
                    <c:v>7월</c:v>
                  </c:pt>
                  <c:pt idx="3">
                    <c:v>8월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</c:v>
                </c:pt>
                <c:pt idx="1">
                  <c:v>45</c:v>
                </c:pt>
                <c:pt idx="2">
                  <c:v>49</c:v>
                </c:pt>
                <c:pt idx="3">
                  <c:v>58</c:v>
                </c:pt>
              </c:numCache>
            </c:numRef>
          </c:val>
          <c:smooth val="0"/>
        </c:ser>
        <c:dLbls>
          <c:numFmt formatCode="#,##0.##" sourceLinked="0"/>
          <c:txPr>
            <a:bodyPr/>
            <a:lstStyle/>
            <a:p>
              <a:pPr>
                <a:defRPr b="1" i="0" strike="noStrike" sz="960" u="none">
                  <a:solidFill>
                    <a:srgbClr val="1A2438"/>
                  </a:solidFill>
                  <a:latin typeface="Pretendard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FD8"/>
            </a:solidFill>
            <a:prstDash val="solid"/>
            <a:round/>
          </a:ln>
        </c:spPr>
        <c:txPr>
          <a:bodyPr/>
          <a:lstStyle/>
          <a:p>
            <a:pPr>
              <a:defRPr sz="960" b="0" i="0" u="none" strike="noStrike">
                <a:solidFill>
                  <a:srgbClr val="4A5568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7FA"/>
        </a:solidFill>
        <a:ln>
          <a:noFill/>
        </a:ln>
        <a:effectLst/>
      </c:spPr>
    </c:plotArea>
    <c:plotVisOnly val="1"/>
    <c:dispBlanksAs val="span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765" y="533370"/>
            <a:ext cx="5050140" cy="79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800" spc="-80" kern="0" dirty="0">
                <a:solidFill>
                  <a:srgbClr val="E7E6E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매출 · ROAS · 신규 고객 · 도달 및 채널별 성과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65831" y="1114471"/>
            <a:ext cx="6858000" cy="163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60"/>
              </a:lnSpc>
              <a:buNone/>
            </a:pPr>
            <a:r>
              <a:rPr lang="en-US" sz="4800" spc="-100" kern="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브리즈홈 8월 마케팅 성과 보고</a:t>
            </a:r>
            <a:endParaRPr lang="en-US" sz="4800" dirty="0"/>
          </a:p>
        </p:txBody>
      </p:sp>
      <p:pic>
        <p:nvPicPr>
          <p:cNvPr id="4" name="Image 0" descr="logo_h_whit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5340" y="5842650"/>
            <a:ext cx="1928835" cy="4819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392625" y="6066495"/>
            <a:ext cx="2348911" cy="377190"/>
          </a:xfrm>
          <a:prstGeom prst="rect">
            <a:avLst/>
          </a:prstGeom>
          <a:solidFill>
            <a:srgbClr val="374C6B"/>
          </a:solidFill>
          <a:ln/>
        </p:spPr>
      </p:sp>
      <p:sp>
        <p:nvSpPr>
          <p:cNvPr id="6" name="Text 3"/>
          <p:cNvSpPr/>
          <p:nvPr/>
        </p:nvSpPr>
        <p:spPr>
          <a:xfrm>
            <a:off x="9567824" y="6066495"/>
            <a:ext cx="19983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400" b="1" spc="-8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브리즈홈 마케팅 월간 보고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E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30" y="285750"/>
            <a:ext cx="10668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30" spc="-80" kern="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8월 성과 요약</a:t>
            </a:r>
            <a:endParaRPr lang="en-US" sz="1130" dirty="0"/>
          </a:p>
        </p:txBody>
      </p:sp>
      <p:sp>
        <p:nvSpPr>
          <p:cNvPr id="3" name="Text 1"/>
          <p:cNvSpPr/>
          <p:nvPr/>
        </p:nvSpPr>
        <p:spPr>
          <a:xfrm>
            <a:off x="11048970" y="285750"/>
            <a:ext cx="7619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50" spc="-80" kern="0" dirty="0">
                <a:solidFill>
                  <a:srgbClr val="8B95A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30" y="581010"/>
            <a:ext cx="104774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spc="-80" kern="0" dirty="0">
                <a:solidFill>
                  <a:srgbClr val="10141C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매출 · ROAS · 신규 고객 · 도달 네 항목 모두 </a:t>
            </a:r>
            <a:pPr algn="l" indent="0" marL="0">
              <a:buNone/>
            </a:pPr>
            <a:r>
              <a:rPr lang="en-US" sz="2600" spc="-80" kern="0" dirty="0">
                <a:solidFill>
                  <a:srgbClr val="10141C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8월 목표치를 초과 달성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1030" y="1104870"/>
            <a:ext cx="11430000" cy="9510"/>
          </a:xfrm>
          <a:prstGeom prst="rect">
            <a:avLst/>
          </a:prstGeom>
          <a:solidFill>
            <a:srgbClr val="CFD4DC"/>
          </a:solidFill>
          <a:ln/>
        </p:spPr>
      </p:sp>
      <p:sp>
        <p:nvSpPr>
          <p:cNvPr id="6" name="Text 4"/>
          <p:cNvSpPr/>
          <p:nvPr/>
        </p:nvSpPr>
        <p:spPr>
          <a:xfrm>
            <a:off x="381030" y="1362090"/>
            <a:ext cx="1047747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80" kern="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집계 기간: 2026.08.01 – 2026.08.31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1030" y="2495580"/>
            <a:ext cx="5611490" cy="294254"/>
          </a:xfrm>
          <a:prstGeom prst="roundRect">
            <a:avLst>
              <a:gd name="adj" fmla="val 49907"/>
            </a:avLst>
          </a:prstGeom>
          <a:solidFill>
            <a:srgbClr val="14366B"/>
          </a:solidFill>
          <a:ln/>
        </p:spPr>
      </p:sp>
      <p:sp>
        <p:nvSpPr>
          <p:cNvPr id="8" name="Text 6"/>
          <p:cNvSpPr/>
          <p:nvPr/>
        </p:nvSpPr>
        <p:spPr>
          <a:xfrm>
            <a:off x="381030" y="2495580"/>
            <a:ext cx="5611490" cy="294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90" b="1" spc="-8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</a:t>
            </a:r>
            <a:endParaRPr lang="en-US" sz="1190" dirty="0"/>
          </a:p>
        </p:txBody>
      </p:sp>
      <p:sp>
        <p:nvSpPr>
          <p:cNvPr id="9" name="Shape 7"/>
          <p:cNvSpPr/>
          <p:nvPr/>
        </p:nvSpPr>
        <p:spPr>
          <a:xfrm>
            <a:off x="381030" y="2831805"/>
            <a:ext cx="5611490" cy="1188629"/>
          </a:xfrm>
          <a:prstGeom prst="roundRect">
            <a:avLst>
              <a:gd name="adj" fmla="val 17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4285A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7169" y="3065617"/>
            <a:ext cx="1119683" cy="357073"/>
          </a:xfrm>
          <a:prstGeom prst="rect">
            <a:avLst/>
          </a:prstGeom>
          <a:solidFill>
            <a:srgbClr val="F5F7FA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4977" y="3065617"/>
            <a:ext cx="904067" cy="357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60" b="1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7월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1696852" y="3065617"/>
            <a:ext cx="1826788" cy="357073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04568" y="3065617"/>
            <a:ext cx="1611264" cy="357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60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2억 7,500만 원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577169" y="3422599"/>
            <a:ext cx="1119683" cy="357073"/>
          </a:xfrm>
          <a:prstGeom prst="rect">
            <a:avLst/>
          </a:prstGeom>
          <a:solidFill>
            <a:srgbClr val="F5F7FA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4977" y="3422599"/>
            <a:ext cx="904067" cy="357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60" b="1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8월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1696852" y="3422599"/>
            <a:ext cx="1826788" cy="357073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04568" y="3422599"/>
            <a:ext cx="1611264" cy="357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60" b="1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3억 2,400만 원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3691799" y="3065617"/>
            <a:ext cx="2104583" cy="714055"/>
          </a:xfrm>
          <a:prstGeom prst="roundRect">
            <a:avLst>
              <a:gd name="adj" fmla="val 13344"/>
            </a:avLst>
          </a:prstGeom>
          <a:solidFill>
            <a:srgbClr val="F2F5FB"/>
          </a:solidFill>
          <a:ln/>
        </p:spPr>
      </p:sp>
      <p:sp>
        <p:nvSpPr>
          <p:cNvPr id="19" name="Text 17"/>
          <p:cNvSpPr/>
          <p:nvPr/>
        </p:nvSpPr>
        <p:spPr>
          <a:xfrm>
            <a:off x="3691799" y="3199028"/>
            <a:ext cx="2104583" cy="185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80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전월대비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3691799" y="3384926"/>
            <a:ext cx="2104583" cy="261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90" b="1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18% 증가</a:t>
            </a:r>
            <a:endParaRPr lang="en-US" sz="1790" dirty="0"/>
          </a:p>
        </p:txBody>
      </p:sp>
      <p:sp>
        <p:nvSpPr>
          <p:cNvPr id="21" name="Shape 19"/>
          <p:cNvSpPr/>
          <p:nvPr/>
        </p:nvSpPr>
        <p:spPr>
          <a:xfrm>
            <a:off x="6199449" y="2495580"/>
            <a:ext cx="5611490" cy="294254"/>
          </a:xfrm>
          <a:prstGeom prst="roundRect">
            <a:avLst>
              <a:gd name="adj" fmla="val 49907"/>
            </a:avLst>
          </a:prstGeom>
          <a:solidFill>
            <a:srgbClr val="14366B"/>
          </a:solidFill>
          <a:ln/>
        </p:spPr>
      </p:sp>
      <p:sp>
        <p:nvSpPr>
          <p:cNvPr id="22" name="Text 20"/>
          <p:cNvSpPr/>
          <p:nvPr/>
        </p:nvSpPr>
        <p:spPr>
          <a:xfrm>
            <a:off x="6199449" y="2495580"/>
            <a:ext cx="5611490" cy="294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90" b="1" spc="-8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 고객</a:t>
            </a:r>
            <a:endParaRPr lang="en-US" sz="1190" dirty="0"/>
          </a:p>
        </p:txBody>
      </p:sp>
      <p:sp>
        <p:nvSpPr>
          <p:cNvPr id="23" name="Shape 21"/>
          <p:cNvSpPr/>
          <p:nvPr/>
        </p:nvSpPr>
        <p:spPr>
          <a:xfrm>
            <a:off x="6199449" y="2831805"/>
            <a:ext cx="5611490" cy="1188629"/>
          </a:xfrm>
          <a:prstGeom prst="roundRect">
            <a:avLst>
              <a:gd name="adj" fmla="val 17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4285A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95679" y="3065617"/>
            <a:ext cx="1119683" cy="357073"/>
          </a:xfrm>
          <a:prstGeom prst="rect">
            <a:avLst/>
          </a:prstGeom>
          <a:solidFill>
            <a:srgbClr val="F5F7FA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03396" y="3065617"/>
            <a:ext cx="904067" cy="357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60" b="1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7월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7515271" y="3065617"/>
            <a:ext cx="1826788" cy="357073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23078" y="3065617"/>
            <a:ext cx="1611264" cy="357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60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4,342명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6395679" y="3422599"/>
            <a:ext cx="1119683" cy="357073"/>
          </a:xfrm>
          <a:prstGeom prst="rect">
            <a:avLst/>
          </a:prstGeom>
          <a:solidFill>
            <a:srgbClr val="F5F7FA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03396" y="3422599"/>
            <a:ext cx="904067" cy="357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60" b="1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8월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7515271" y="3422599"/>
            <a:ext cx="1826788" cy="357073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23078" y="3422599"/>
            <a:ext cx="1611264" cy="357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60" b="1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4,820명</a:t>
            </a:r>
            <a:endParaRPr lang="en-US" sz="1060" dirty="0"/>
          </a:p>
        </p:txBody>
      </p:sp>
      <p:sp>
        <p:nvSpPr>
          <p:cNvPr id="32" name="Shape 30"/>
          <p:cNvSpPr/>
          <p:nvPr/>
        </p:nvSpPr>
        <p:spPr>
          <a:xfrm>
            <a:off x="9510217" y="3065617"/>
            <a:ext cx="2104583" cy="714055"/>
          </a:xfrm>
          <a:prstGeom prst="roundRect">
            <a:avLst>
              <a:gd name="adj" fmla="val 13344"/>
            </a:avLst>
          </a:prstGeom>
          <a:solidFill>
            <a:srgbClr val="F2F5FB"/>
          </a:solidFill>
          <a:ln/>
        </p:spPr>
      </p:sp>
      <p:sp>
        <p:nvSpPr>
          <p:cNvPr id="33" name="Text 31"/>
          <p:cNvSpPr/>
          <p:nvPr/>
        </p:nvSpPr>
        <p:spPr>
          <a:xfrm>
            <a:off x="9510217" y="3199028"/>
            <a:ext cx="2104583" cy="185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80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전월대비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9510217" y="3384926"/>
            <a:ext cx="2104583" cy="261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90" b="1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11% 증가</a:t>
            </a:r>
            <a:endParaRPr lang="en-US" sz="1790" dirty="0"/>
          </a:p>
        </p:txBody>
      </p:sp>
      <p:sp>
        <p:nvSpPr>
          <p:cNvPr id="35" name="Shape 33"/>
          <p:cNvSpPr/>
          <p:nvPr/>
        </p:nvSpPr>
        <p:spPr>
          <a:xfrm>
            <a:off x="381030" y="4227363"/>
            <a:ext cx="5611490" cy="294254"/>
          </a:xfrm>
          <a:prstGeom prst="roundRect">
            <a:avLst>
              <a:gd name="adj" fmla="val 49907"/>
            </a:avLst>
          </a:prstGeom>
          <a:solidFill>
            <a:srgbClr val="14366B"/>
          </a:solidFill>
          <a:ln/>
        </p:spPr>
      </p:sp>
      <p:sp>
        <p:nvSpPr>
          <p:cNvPr id="36" name="Text 34"/>
          <p:cNvSpPr/>
          <p:nvPr/>
        </p:nvSpPr>
        <p:spPr>
          <a:xfrm>
            <a:off x="381030" y="4227363"/>
            <a:ext cx="5611490" cy="294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90" b="1" spc="-8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도달</a:t>
            </a:r>
            <a:endParaRPr lang="en-US" sz="1190" dirty="0"/>
          </a:p>
        </p:txBody>
      </p:sp>
      <p:sp>
        <p:nvSpPr>
          <p:cNvPr id="37" name="Shape 35"/>
          <p:cNvSpPr/>
          <p:nvPr/>
        </p:nvSpPr>
        <p:spPr>
          <a:xfrm>
            <a:off x="381030" y="4563679"/>
            <a:ext cx="5611490" cy="1188629"/>
          </a:xfrm>
          <a:prstGeom prst="roundRect">
            <a:avLst>
              <a:gd name="adj" fmla="val 17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4285A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77169" y="4797491"/>
            <a:ext cx="1119683" cy="357073"/>
          </a:xfrm>
          <a:prstGeom prst="rect">
            <a:avLst/>
          </a:prstGeom>
          <a:solidFill>
            <a:srgbClr val="F5F7FA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4977" y="4797491"/>
            <a:ext cx="904067" cy="357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60" b="1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7월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1696852" y="4797491"/>
            <a:ext cx="1826788" cy="357073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04568" y="4797491"/>
            <a:ext cx="1611264" cy="357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60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172만 명</a:t>
            </a:r>
            <a:endParaRPr lang="en-US" sz="1060" dirty="0"/>
          </a:p>
        </p:txBody>
      </p:sp>
      <p:sp>
        <p:nvSpPr>
          <p:cNvPr id="42" name="Shape 40"/>
          <p:cNvSpPr/>
          <p:nvPr/>
        </p:nvSpPr>
        <p:spPr>
          <a:xfrm>
            <a:off x="577169" y="5154473"/>
            <a:ext cx="1119683" cy="357073"/>
          </a:xfrm>
          <a:prstGeom prst="rect">
            <a:avLst/>
          </a:prstGeom>
          <a:solidFill>
            <a:srgbClr val="F5F7FA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4977" y="5154473"/>
            <a:ext cx="904067" cy="357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60" b="1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8월</a:t>
            </a:r>
            <a:endParaRPr lang="en-US" sz="1060" dirty="0"/>
          </a:p>
        </p:txBody>
      </p:sp>
      <p:sp>
        <p:nvSpPr>
          <p:cNvPr id="44" name="Shape 42"/>
          <p:cNvSpPr/>
          <p:nvPr/>
        </p:nvSpPr>
        <p:spPr>
          <a:xfrm>
            <a:off x="1696852" y="5154473"/>
            <a:ext cx="1826788" cy="357073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04568" y="5154473"/>
            <a:ext cx="1611264" cy="357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60" b="1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187만 명</a:t>
            </a:r>
            <a:endParaRPr lang="en-US" sz="1060" dirty="0"/>
          </a:p>
        </p:txBody>
      </p:sp>
      <p:sp>
        <p:nvSpPr>
          <p:cNvPr id="46" name="Shape 44"/>
          <p:cNvSpPr/>
          <p:nvPr/>
        </p:nvSpPr>
        <p:spPr>
          <a:xfrm>
            <a:off x="3691799" y="4797491"/>
            <a:ext cx="2104583" cy="714055"/>
          </a:xfrm>
          <a:prstGeom prst="roundRect">
            <a:avLst>
              <a:gd name="adj" fmla="val 13344"/>
            </a:avLst>
          </a:prstGeom>
          <a:solidFill>
            <a:srgbClr val="F2F5FB"/>
          </a:solidFill>
          <a:ln/>
        </p:spPr>
      </p:sp>
      <p:sp>
        <p:nvSpPr>
          <p:cNvPr id="47" name="Text 45"/>
          <p:cNvSpPr/>
          <p:nvPr/>
        </p:nvSpPr>
        <p:spPr>
          <a:xfrm>
            <a:off x="3691799" y="4930902"/>
            <a:ext cx="2104583" cy="185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80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전월대비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3691799" y="5116800"/>
            <a:ext cx="2104583" cy="261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90" b="1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9% 증가</a:t>
            </a:r>
            <a:endParaRPr lang="en-US" sz="1790" dirty="0"/>
          </a:p>
        </p:txBody>
      </p:sp>
      <p:sp>
        <p:nvSpPr>
          <p:cNvPr id="49" name="Shape 47"/>
          <p:cNvSpPr/>
          <p:nvPr/>
        </p:nvSpPr>
        <p:spPr>
          <a:xfrm>
            <a:off x="6199449" y="4227363"/>
            <a:ext cx="5611490" cy="294254"/>
          </a:xfrm>
          <a:prstGeom prst="roundRect">
            <a:avLst>
              <a:gd name="adj" fmla="val 49907"/>
            </a:avLst>
          </a:prstGeom>
          <a:solidFill>
            <a:srgbClr val="14366B"/>
          </a:solidFill>
          <a:ln/>
        </p:spPr>
      </p:sp>
      <p:sp>
        <p:nvSpPr>
          <p:cNvPr id="50" name="Text 48"/>
          <p:cNvSpPr/>
          <p:nvPr/>
        </p:nvSpPr>
        <p:spPr>
          <a:xfrm>
            <a:off x="6199449" y="4227363"/>
            <a:ext cx="5611490" cy="294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90" b="1" spc="-8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ROAS</a:t>
            </a:r>
            <a:endParaRPr lang="en-US" sz="1190" dirty="0"/>
          </a:p>
        </p:txBody>
      </p:sp>
      <p:sp>
        <p:nvSpPr>
          <p:cNvPr id="51" name="Shape 49"/>
          <p:cNvSpPr/>
          <p:nvPr/>
        </p:nvSpPr>
        <p:spPr>
          <a:xfrm>
            <a:off x="6199449" y="4563679"/>
            <a:ext cx="5611490" cy="1188629"/>
          </a:xfrm>
          <a:prstGeom prst="roundRect">
            <a:avLst>
              <a:gd name="adj" fmla="val 17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4285A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395679" y="4797491"/>
            <a:ext cx="1119683" cy="357073"/>
          </a:xfrm>
          <a:prstGeom prst="rect">
            <a:avLst/>
          </a:prstGeom>
          <a:solidFill>
            <a:srgbClr val="F5F7FA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03396" y="4797491"/>
            <a:ext cx="904067" cy="357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60" b="1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</a:t>
            </a:r>
            <a:endParaRPr lang="en-US" sz="1060" dirty="0"/>
          </a:p>
        </p:txBody>
      </p:sp>
      <p:sp>
        <p:nvSpPr>
          <p:cNvPr id="54" name="Shape 52"/>
          <p:cNvSpPr/>
          <p:nvPr/>
        </p:nvSpPr>
        <p:spPr>
          <a:xfrm>
            <a:off x="7515271" y="4797491"/>
            <a:ext cx="1826788" cy="357073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23078" y="4797491"/>
            <a:ext cx="1611264" cy="357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60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380%</a:t>
            </a:r>
            <a:endParaRPr lang="en-US" sz="1060" dirty="0"/>
          </a:p>
        </p:txBody>
      </p:sp>
      <p:sp>
        <p:nvSpPr>
          <p:cNvPr id="56" name="Shape 54"/>
          <p:cNvSpPr/>
          <p:nvPr/>
        </p:nvSpPr>
        <p:spPr>
          <a:xfrm>
            <a:off x="6395679" y="5154473"/>
            <a:ext cx="1119683" cy="357073"/>
          </a:xfrm>
          <a:prstGeom prst="rect">
            <a:avLst/>
          </a:prstGeom>
          <a:solidFill>
            <a:srgbClr val="F5F7FA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03396" y="5154473"/>
            <a:ext cx="904067" cy="357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60" b="1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8월</a:t>
            </a:r>
            <a:endParaRPr lang="en-US" sz="1060" dirty="0"/>
          </a:p>
        </p:txBody>
      </p:sp>
      <p:sp>
        <p:nvSpPr>
          <p:cNvPr id="58" name="Shape 56"/>
          <p:cNvSpPr/>
          <p:nvPr/>
        </p:nvSpPr>
        <p:spPr>
          <a:xfrm>
            <a:off x="7515271" y="5154473"/>
            <a:ext cx="1826788" cy="357073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23078" y="5154473"/>
            <a:ext cx="1611264" cy="357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60" b="1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412%</a:t>
            </a:r>
            <a:endParaRPr lang="en-US" sz="1060" dirty="0"/>
          </a:p>
        </p:txBody>
      </p:sp>
      <p:sp>
        <p:nvSpPr>
          <p:cNvPr id="60" name="Shape 58"/>
          <p:cNvSpPr/>
          <p:nvPr/>
        </p:nvSpPr>
        <p:spPr>
          <a:xfrm>
            <a:off x="9510217" y="4797491"/>
            <a:ext cx="2104583" cy="714055"/>
          </a:xfrm>
          <a:prstGeom prst="roundRect">
            <a:avLst>
              <a:gd name="adj" fmla="val 13344"/>
            </a:avLst>
          </a:prstGeom>
          <a:solidFill>
            <a:srgbClr val="F2F5FB"/>
          </a:solidFill>
          <a:ln/>
        </p:spPr>
      </p:sp>
      <p:sp>
        <p:nvSpPr>
          <p:cNvPr id="61" name="Text 59"/>
          <p:cNvSpPr/>
          <p:nvPr/>
        </p:nvSpPr>
        <p:spPr>
          <a:xfrm>
            <a:off x="9510217" y="4930902"/>
            <a:ext cx="2104583" cy="185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80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목표대비</a:t>
            </a:r>
            <a:endParaRPr lang="en-US" sz="980" dirty="0"/>
          </a:p>
        </p:txBody>
      </p:sp>
      <p:sp>
        <p:nvSpPr>
          <p:cNvPr id="62" name="Text 60"/>
          <p:cNvSpPr/>
          <p:nvPr/>
        </p:nvSpPr>
        <p:spPr>
          <a:xfrm>
            <a:off x="9510217" y="5116800"/>
            <a:ext cx="2104583" cy="261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90" b="1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8% 초과</a:t>
            </a:r>
            <a:endParaRPr lang="en-US" sz="1790" dirty="0"/>
          </a:p>
        </p:txBody>
      </p:sp>
      <p:sp>
        <p:nvSpPr>
          <p:cNvPr id="63" name="Shape 61"/>
          <p:cNvSpPr/>
          <p:nvPr/>
        </p:nvSpPr>
        <p:spPr>
          <a:xfrm>
            <a:off x="381030" y="5881695"/>
            <a:ext cx="11430000" cy="557235"/>
          </a:xfrm>
          <a:prstGeom prst="roundRect">
            <a:avLst>
              <a:gd name="adj" fmla="val 23925"/>
            </a:avLst>
          </a:prstGeom>
          <a:solidFill>
            <a:srgbClr val="1C2B55"/>
          </a:solidFill>
          <a:ln/>
          <a:effectLst>
            <a:outerShdw sx="100000" sy="100000" kx="0" ky="0" algn="bl" rotWithShape="0" blurRad="76200" dist="19050" dir="5400000">
              <a:srgbClr val="14285A">
                <a:alpha val="8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579364" y="5974598"/>
            <a:ext cx="478963" cy="371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20" b="1" spc="-80" kern="0" dirty="0">
                <a:solidFill>
                  <a:srgbClr val="AAC1E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특이사항</a:t>
            </a:r>
            <a:endParaRPr lang="en-US" sz="1020" dirty="0"/>
          </a:p>
        </p:txBody>
      </p:sp>
      <p:sp>
        <p:nvSpPr>
          <p:cNvPr id="65" name="Text 63"/>
          <p:cNvSpPr/>
          <p:nvPr/>
        </p:nvSpPr>
        <p:spPr>
          <a:xfrm>
            <a:off x="1256568" y="5974598"/>
            <a:ext cx="10356037" cy="371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52400" indent="-152400">
              <a:lnSpc>
                <a:spcPct val="125000"/>
              </a:lnSpc>
              <a:spcAft>
                <a:spcPts val="386"/>
              </a:spcAft>
              <a:buSzPct val="100000"/>
              <a:buChar char="•"/>
            </a:pPr>
            <a:r>
              <a:rPr lang="en-US" sz="980" spc="-80" kern="0" dirty="0">
                <a:solidFill>
                  <a:srgbClr val="8297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성수기 막바지 프로모션과 신제품 미니 제습기 출시 효과가 맞물리며 주요 지표가 모두 목표치 초과 달성</a:t>
            </a:r>
            <a:endParaRPr lang="en-US" sz="980" dirty="0"/>
          </a:p>
          <a:p>
            <a:pPr algn="l" marL="152400" indent="-152400">
              <a:lnSpc>
                <a:spcPct val="125000"/>
              </a:lnSpc>
              <a:buSzPct val="100000"/>
              <a:buChar char="•"/>
            </a:pPr>
            <a:r>
              <a:rPr lang="en-US" sz="980" spc="-80" kern="0" dirty="0">
                <a:solidFill>
                  <a:srgbClr val="8297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특정 채널에 편중되지 않고 유튜브, 인스타그램, 블로그 세 채널이 고르게 성장</a:t>
            </a:r>
            <a:endParaRPr lang="en-US" sz="9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E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30" y="285750"/>
            <a:ext cx="10668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30" spc="-80" kern="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채널별 성과</a:t>
            </a:r>
            <a:endParaRPr lang="en-US" sz="1130" dirty="0"/>
          </a:p>
        </p:txBody>
      </p:sp>
      <p:sp>
        <p:nvSpPr>
          <p:cNvPr id="3" name="Text 1"/>
          <p:cNvSpPr/>
          <p:nvPr/>
        </p:nvSpPr>
        <p:spPr>
          <a:xfrm>
            <a:off x="11048970" y="285750"/>
            <a:ext cx="7619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50" spc="-80" kern="0" dirty="0">
                <a:solidFill>
                  <a:srgbClr val="8B95A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30" y="581010"/>
            <a:ext cx="104774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spc="-80" kern="0" dirty="0">
                <a:solidFill>
                  <a:srgbClr val="10141C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8월 한 달간 </a:t>
            </a:r>
            <a:pPr algn="l" indent="0" marL="0">
              <a:buNone/>
            </a:pPr>
            <a:r>
              <a:rPr lang="en-US" sz="2600" spc="-80" kern="0" dirty="0">
                <a:solidFill>
                  <a:srgbClr val="10141C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42만 회의 조회수</a:t>
            </a:r>
            <a:pPr algn="l" indent="0" marL="0">
              <a:buNone/>
            </a:pPr>
            <a:r>
              <a:rPr lang="en-US" sz="2600" spc="-80" kern="0" dirty="0">
                <a:solidFill>
                  <a:srgbClr val="10141C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를 기록하며 </a:t>
            </a:r>
            <a:pPr algn="l" indent="0" marL="0">
              <a:buNone/>
            </a:pPr>
            <a:r>
              <a:rPr lang="en-US" sz="2600" spc="-80" kern="0" dirty="0">
                <a:solidFill>
                  <a:srgbClr val="10141C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전월 대비 35% 성장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1030" y="1104870"/>
            <a:ext cx="11430000" cy="9510"/>
          </a:xfrm>
          <a:prstGeom prst="rect">
            <a:avLst/>
          </a:prstGeom>
          <a:solidFill>
            <a:srgbClr val="CFD4DC"/>
          </a:solidFill>
          <a:ln/>
        </p:spPr>
      </p:sp>
      <p:sp>
        <p:nvSpPr>
          <p:cNvPr id="6" name="Text 4"/>
          <p:cNvSpPr/>
          <p:nvPr/>
        </p:nvSpPr>
        <p:spPr>
          <a:xfrm>
            <a:off x="381030" y="1362090"/>
            <a:ext cx="1047747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80" kern="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집계 기간: 2026.08.01 – 2026.08.31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1030" y="2495580"/>
            <a:ext cx="5603992" cy="315742"/>
          </a:xfrm>
          <a:prstGeom prst="roundRect">
            <a:avLst>
              <a:gd name="adj" fmla="val 49899"/>
            </a:avLst>
          </a:prstGeom>
          <a:solidFill>
            <a:srgbClr val="14366B"/>
          </a:solidFill>
          <a:ln/>
        </p:spPr>
      </p:sp>
      <p:sp>
        <p:nvSpPr>
          <p:cNvPr id="8" name="Text 6"/>
          <p:cNvSpPr/>
          <p:nvPr/>
        </p:nvSpPr>
        <p:spPr>
          <a:xfrm>
            <a:off x="381030" y="2495580"/>
            <a:ext cx="5603992" cy="315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80" b="1" spc="-8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도달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381030" y="2856403"/>
            <a:ext cx="5603992" cy="2845613"/>
          </a:xfrm>
          <a:prstGeom prst="roundRect">
            <a:avLst>
              <a:gd name="adj" fmla="val 73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4285A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1525" y="2999323"/>
            <a:ext cx="5182911" cy="199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spc="-80" kern="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조회수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1525" y="3198846"/>
            <a:ext cx="5182911" cy="4326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spc="-10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</a:t>
            </a:r>
            <a:pPr indent="0" marL="0">
              <a:buNone/>
            </a:pPr>
            <a:r>
              <a:rPr lang="en-US" sz="1550" b="1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회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591525" y="3699114"/>
            <a:ext cx="5182911" cy="186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-80" kern="0" dirty="0">
                <a:solidFill>
                  <a:srgbClr val="1E5B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전월 31만 회 · 전월 대비 35% 성장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1525" y="4020708"/>
            <a:ext cx="5182911" cy="1530980"/>
          </a:xfrm>
          <a:prstGeom prst="roundRect">
            <a:avLst>
              <a:gd name="adj" fmla="val 6223"/>
            </a:avLst>
          </a:prstGeom>
          <a:solidFill>
            <a:srgbClr val="F5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771936" y="4171036"/>
            <a:ext cx="3109783" cy="225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80" b="1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월별 조회수 추이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3182935" y="4171036"/>
            <a:ext cx="2410998" cy="225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50" spc="-80" kern="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 : 만 회</a:t>
            </a:r>
            <a:endParaRPr lang="en-US" sz="10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63672" y="4396618"/>
          <a:ext cx="5038527" cy="106481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6207039" y="2495580"/>
            <a:ext cx="5603992" cy="315742"/>
          </a:xfrm>
          <a:prstGeom prst="roundRect">
            <a:avLst>
              <a:gd name="adj" fmla="val 49899"/>
            </a:avLst>
          </a:prstGeom>
          <a:solidFill>
            <a:srgbClr val="14366B"/>
          </a:solidFill>
          <a:ln/>
        </p:spPr>
      </p:sp>
      <p:sp>
        <p:nvSpPr>
          <p:cNvPr id="18" name="Text 15"/>
          <p:cNvSpPr/>
          <p:nvPr/>
        </p:nvSpPr>
        <p:spPr>
          <a:xfrm>
            <a:off x="6207039" y="2495580"/>
            <a:ext cx="5603992" cy="315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80" b="1" spc="-8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 성과</a:t>
            </a:r>
            <a:endParaRPr lang="en-US" sz="1280" dirty="0"/>
          </a:p>
        </p:txBody>
      </p:sp>
      <p:sp>
        <p:nvSpPr>
          <p:cNvPr id="19" name="Shape 16"/>
          <p:cNvSpPr/>
          <p:nvPr/>
        </p:nvSpPr>
        <p:spPr>
          <a:xfrm>
            <a:off x="6207039" y="2856403"/>
            <a:ext cx="5603992" cy="2845613"/>
          </a:xfrm>
          <a:prstGeom prst="roundRect">
            <a:avLst>
              <a:gd name="adj" fmla="val 73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4285A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417534" y="3165470"/>
            <a:ext cx="5182911" cy="195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10" b="1" spc="-80" kern="0" dirty="0">
                <a:solidFill>
                  <a:srgbClr val="515B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채널 전체</a:t>
            </a:r>
            <a:endParaRPr lang="en-US" sz="1110" dirty="0"/>
          </a:p>
        </p:txBody>
      </p:sp>
      <p:sp>
        <p:nvSpPr>
          <p:cNvPr id="21" name="Text 18"/>
          <p:cNvSpPr/>
          <p:nvPr/>
        </p:nvSpPr>
        <p:spPr>
          <a:xfrm>
            <a:off x="6417534" y="3428634"/>
            <a:ext cx="518291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25000"/>
              </a:lnSpc>
              <a:spcAft>
                <a:spcPts val="2013"/>
              </a:spcAft>
              <a:buSzPct val="100000"/>
              <a:buChar char="•"/>
            </a:pPr>
            <a:r>
              <a:rPr lang="en-US" sz="1180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구독자 1,200명 증가해 2.8만 명 달성</a:t>
            </a:r>
            <a:endParaRPr lang="en-US" sz="1180" dirty="0"/>
          </a:p>
          <a:p>
            <a:pPr algn="l" marL="152400" indent="-152400">
              <a:lnSpc>
                <a:spcPct val="125000"/>
              </a:lnSpc>
              <a:buSzPct val="100000"/>
              <a:buChar char="•"/>
            </a:pPr>
            <a:r>
              <a:rPr lang="en-US" sz="1180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상세페이지 유입의 38%가 유튜브를 경유</a:t>
            </a:r>
            <a:endParaRPr lang="en-US" sz="1180" dirty="0"/>
          </a:p>
        </p:txBody>
      </p:sp>
      <p:sp>
        <p:nvSpPr>
          <p:cNvPr id="22" name="Shape 19"/>
          <p:cNvSpPr/>
          <p:nvPr/>
        </p:nvSpPr>
        <p:spPr>
          <a:xfrm>
            <a:off x="6417534" y="4105290"/>
            <a:ext cx="5182911" cy="9510"/>
          </a:xfrm>
          <a:prstGeom prst="rect">
            <a:avLst/>
          </a:prstGeom>
          <a:solidFill>
            <a:srgbClr val="E6E9EE"/>
          </a:solidFill>
          <a:ln/>
        </p:spPr>
      </p:sp>
      <p:sp>
        <p:nvSpPr>
          <p:cNvPr id="23" name="Text 20"/>
          <p:cNvSpPr/>
          <p:nvPr/>
        </p:nvSpPr>
        <p:spPr>
          <a:xfrm>
            <a:off x="6417534" y="4265219"/>
            <a:ext cx="5182911" cy="195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10" b="1" spc="-80" kern="0" dirty="0">
                <a:solidFill>
                  <a:srgbClr val="515B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</a:t>
            </a:r>
            <a:endParaRPr lang="en-US" sz="1110" dirty="0"/>
          </a:p>
        </p:txBody>
      </p:sp>
      <p:sp>
        <p:nvSpPr>
          <p:cNvPr id="24" name="Text 21"/>
          <p:cNvSpPr/>
          <p:nvPr/>
        </p:nvSpPr>
        <p:spPr>
          <a:xfrm>
            <a:off x="6417534" y="4528383"/>
            <a:ext cx="5182911" cy="1007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25000"/>
              </a:lnSpc>
              <a:spcAft>
                <a:spcPts val="1539"/>
              </a:spcAft>
              <a:buSzPct val="100000"/>
              <a:buChar char="•"/>
            </a:pPr>
            <a:r>
              <a:rPr lang="en-US" sz="1180" b="1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신제품 미니 제습기 언박싱 영상 *8월 7일 게시</a:t>
            </a:r>
            <a:endParaRPr lang="en-US" sz="1180" dirty="0"/>
          </a:p>
          <a:p>
            <a:pPr algn="l" marL="152400" indent="-152400">
              <a:lnSpc>
                <a:spcPct val="125000"/>
              </a:lnSpc>
              <a:spcAft>
                <a:spcPts val="1539"/>
              </a:spcAft>
              <a:buSzPct val="100000"/>
              <a:buChar char="•"/>
            </a:pPr>
            <a:r>
              <a:rPr lang="en-US" sz="1180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조회수 12만 회로 채널 역대 2위 기록</a:t>
            </a:r>
            <a:endParaRPr lang="en-US" sz="1180" dirty="0"/>
          </a:p>
          <a:p>
            <a:pPr algn="l" marL="152400" indent="-152400">
              <a:lnSpc>
                <a:spcPct val="125000"/>
              </a:lnSpc>
              <a:buSzPct val="100000"/>
              <a:buChar char="•"/>
            </a:pPr>
            <a:r>
              <a:rPr lang="en-US" sz="1180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좋아요 4,300개, 구매 전환 214건 달성</a:t>
            </a:r>
            <a:endParaRPr lang="en-US" sz="1180" dirty="0"/>
          </a:p>
        </p:txBody>
      </p:sp>
      <p:sp>
        <p:nvSpPr>
          <p:cNvPr id="25" name="Shape 22"/>
          <p:cNvSpPr/>
          <p:nvPr/>
        </p:nvSpPr>
        <p:spPr>
          <a:xfrm>
            <a:off x="381030" y="5840913"/>
            <a:ext cx="11430000" cy="598018"/>
          </a:xfrm>
          <a:prstGeom prst="roundRect">
            <a:avLst>
              <a:gd name="adj" fmla="val 22294"/>
            </a:avLst>
          </a:prstGeom>
          <a:solidFill>
            <a:srgbClr val="1C2B55"/>
          </a:solidFill>
          <a:ln/>
          <a:effectLst>
            <a:outerShdw sx="100000" sy="100000" kx="0" ky="0" algn="bl" rotWithShape="0" blurRad="76200" dist="19050" dir="5400000">
              <a:srgbClr val="14285A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93811" y="5940674"/>
            <a:ext cx="513984" cy="398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spc="-80" kern="0" dirty="0">
                <a:solidFill>
                  <a:srgbClr val="AAC1E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특이사항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320668" y="5940674"/>
            <a:ext cx="10277490" cy="398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52400" indent="-152400">
              <a:lnSpc>
                <a:spcPct val="125000"/>
              </a:lnSpc>
              <a:spcAft>
                <a:spcPts val="414"/>
              </a:spcAft>
              <a:buSzPct val="100000"/>
              <a:buChar char="•"/>
            </a:pPr>
            <a:r>
              <a:rPr lang="en-US" sz="1050" spc="-80" kern="0" dirty="0">
                <a:solidFill>
                  <a:srgbClr val="8297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장마가 끝난 직후 습기 고민이 정점에 달하는 타이밍에 게시된 점과 실사용 비교 중심의 구성이 주효</a:t>
            </a:r>
            <a:endParaRPr lang="en-US" sz="1050" dirty="0"/>
          </a:p>
          <a:p>
            <a:pPr algn="l" marL="152400" indent="-152400">
              <a:lnSpc>
                <a:spcPct val="125000"/>
              </a:lnSpc>
              <a:buSzPct val="100000"/>
              <a:buChar char="•"/>
            </a:pPr>
            <a:r>
              <a:rPr lang="en-US" sz="1050" spc="-80" kern="0" dirty="0">
                <a:solidFill>
                  <a:srgbClr val="8297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유튜브가 구매 여정에서 차지하는 비중 확인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E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30" y="285750"/>
            <a:ext cx="10668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30" spc="-80" kern="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채널별 성과</a:t>
            </a:r>
            <a:endParaRPr lang="en-US" sz="1130" dirty="0"/>
          </a:p>
        </p:txBody>
      </p:sp>
      <p:sp>
        <p:nvSpPr>
          <p:cNvPr id="3" name="Text 1"/>
          <p:cNvSpPr/>
          <p:nvPr/>
        </p:nvSpPr>
        <p:spPr>
          <a:xfrm>
            <a:off x="11048970" y="285750"/>
            <a:ext cx="7619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50" spc="-80" kern="0" dirty="0">
                <a:solidFill>
                  <a:srgbClr val="8B95A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30" y="581010"/>
            <a:ext cx="104774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spc="-80" kern="0" dirty="0">
                <a:solidFill>
                  <a:srgbClr val="10141C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릴스 중심 운영으로 </a:t>
            </a:r>
            <a:pPr algn="l" indent="0" marL="0">
              <a:buNone/>
            </a:pPr>
            <a:r>
              <a:rPr lang="en-US" sz="2600" spc="-80" kern="0" dirty="0">
                <a:solidFill>
                  <a:srgbClr val="10141C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도달 58만 명</a:t>
            </a:r>
            <a:pPr algn="l" indent="0" marL="0">
              <a:buNone/>
            </a:pPr>
            <a:r>
              <a:rPr lang="en-US" sz="2600" spc="-80" kern="0" dirty="0">
                <a:solidFill>
                  <a:srgbClr val="10141C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, 팔로워 </a:t>
            </a:r>
            <a:pPr algn="l" indent="0" marL="0">
              <a:buNone/>
            </a:pPr>
            <a:r>
              <a:rPr lang="en-US" sz="2600" spc="-80" kern="0" dirty="0">
                <a:solidFill>
                  <a:srgbClr val="10141C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월 2,100명 순증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1030" y="1104870"/>
            <a:ext cx="11430000" cy="9510"/>
          </a:xfrm>
          <a:prstGeom prst="rect">
            <a:avLst/>
          </a:prstGeom>
          <a:solidFill>
            <a:srgbClr val="CFD4DC"/>
          </a:solidFill>
          <a:ln/>
        </p:spPr>
      </p:sp>
      <p:sp>
        <p:nvSpPr>
          <p:cNvPr id="6" name="Text 4"/>
          <p:cNvSpPr/>
          <p:nvPr/>
        </p:nvSpPr>
        <p:spPr>
          <a:xfrm>
            <a:off x="381030" y="1362090"/>
            <a:ext cx="1047747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spc="-80" kern="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집계 기간: 2026.08.01 – 2026.08.31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1030" y="2495580"/>
            <a:ext cx="5603992" cy="315742"/>
          </a:xfrm>
          <a:prstGeom prst="roundRect">
            <a:avLst>
              <a:gd name="adj" fmla="val 49899"/>
            </a:avLst>
          </a:prstGeom>
          <a:solidFill>
            <a:srgbClr val="14366B"/>
          </a:solidFill>
          <a:ln/>
        </p:spPr>
      </p:sp>
      <p:sp>
        <p:nvSpPr>
          <p:cNvPr id="8" name="Text 6"/>
          <p:cNvSpPr/>
          <p:nvPr/>
        </p:nvSpPr>
        <p:spPr>
          <a:xfrm>
            <a:off x="381030" y="2495580"/>
            <a:ext cx="5603992" cy="315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80" b="1" spc="-8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도달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381030" y="2856403"/>
            <a:ext cx="5603992" cy="2845613"/>
          </a:xfrm>
          <a:prstGeom prst="roundRect">
            <a:avLst>
              <a:gd name="adj" fmla="val 73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4285A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1525" y="2999323"/>
            <a:ext cx="5182911" cy="199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spc="-80" kern="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도달 계정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1525" y="3198846"/>
            <a:ext cx="5182911" cy="4326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spc="-10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58</a:t>
            </a:r>
            <a:pPr indent="0" marL="0">
              <a:buNone/>
            </a:pPr>
            <a:r>
              <a:rPr lang="en-US" sz="1550" b="1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명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591525" y="3699114"/>
            <a:ext cx="5182911" cy="186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spc="-80" kern="0" dirty="0">
                <a:solidFill>
                  <a:srgbClr val="1E5B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전월 49만 명 · 전월 대비 18% 성장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1525" y="4020708"/>
            <a:ext cx="5182911" cy="1530980"/>
          </a:xfrm>
          <a:prstGeom prst="roundRect">
            <a:avLst>
              <a:gd name="adj" fmla="val 6223"/>
            </a:avLst>
          </a:prstGeom>
          <a:solidFill>
            <a:srgbClr val="F5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771936" y="4171036"/>
            <a:ext cx="3109783" cy="225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80" b="1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월별 도달 추이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3182935" y="4171036"/>
            <a:ext cx="2410998" cy="225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50" spc="-80" kern="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 : 만 명</a:t>
            </a:r>
            <a:endParaRPr lang="en-US" sz="10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63672" y="4396618"/>
          <a:ext cx="5038527" cy="106481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6207039" y="2495580"/>
            <a:ext cx="5603992" cy="315742"/>
          </a:xfrm>
          <a:prstGeom prst="roundRect">
            <a:avLst>
              <a:gd name="adj" fmla="val 49899"/>
            </a:avLst>
          </a:prstGeom>
          <a:solidFill>
            <a:srgbClr val="14366B"/>
          </a:solidFill>
          <a:ln/>
        </p:spPr>
      </p:sp>
      <p:sp>
        <p:nvSpPr>
          <p:cNvPr id="18" name="Text 15"/>
          <p:cNvSpPr/>
          <p:nvPr/>
        </p:nvSpPr>
        <p:spPr>
          <a:xfrm>
            <a:off x="6207039" y="2495580"/>
            <a:ext cx="5603992" cy="315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80" b="1" spc="-8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 성과</a:t>
            </a:r>
            <a:endParaRPr lang="en-US" sz="1280" dirty="0"/>
          </a:p>
        </p:txBody>
      </p:sp>
      <p:sp>
        <p:nvSpPr>
          <p:cNvPr id="19" name="Shape 16"/>
          <p:cNvSpPr/>
          <p:nvPr/>
        </p:nvSpPr>
        <p:spPr>
          <a:xfrm>
            <a:off x="6207039" y="2856403"/>
            <a:ext cx="5603992" cy="2845613"/>
          </a:xfrm>
          <a:prstGeom prst="roundRect">
            <a:avLst>
              <a:gd name="adj" fmla="val 73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4285A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417534" y="3165470"/>
            <a:ext cx="5182911" cy="195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10" b="1" spc="-80" kern="0" dirty="0">
                <a:solidFill>
                  <a:srgbClr val="515B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채널 전체</a:t>
            </a:r>
            <a:endParaRPr lang="en-US" sz="1110" dirty="0"/>
          </a:p>
        </p:txBody>
      </p:sp>
      <p:sp>
        <p:nvSpPr>
          <p:cNvPr id="21" name="Text 18"/>
          <p:cNvSpPr/>
          <p:nvPr/>
        </p:nvSpPr>
        <p:spPr>
          <a:xfrm>
            <a:off x="6417534" y="3428634"/>
            <a:ext cx="518291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25000"/>
              </a:lnSpc>
              <a:spcAft>
                <a:spcPts val="2013"/>
              </a:spcAft>
              <a:buSzPct val="100000"/>
              <a:buChar char="•"/>
            </a:pPr>
            <a:r>
              <a:rPr lang="en-US" sz="1180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팔로워 2,100명 순증 · 누적 3.6만 명</a:t>
            </a:r>
            <a:endParaRPr lang="en-US" sz="1180" dirty="0"/>
          </a:p>
          <a:p>
            <a:pPr algn="l" marL="152400" indent="-152400">
              <a:lnSpc>
                <a:spcPct val="125000"/>
              </a:lnSpc>
              <a:buSzPct val="100000"/>
              <a:buChar char="•"/>
            </a:pPr>
            <a:r>
              <a:rPr lang="en-US" sz="1180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프로필 → 스토어 클릭 5,800건</a:t>
            </a:r>
            <a:endParaRPr lang="en-US" sz="1180" dirty="0"/>
          </a:p>
        </p:txBody>
      </p:sp>
      <p:sp>
        <p:nvSpPr>
          <p:cNvPr id="22" name="Shape 19"/>
          <p:cNvSpPr/>
          <p:nvPr/>
        </p:nvSpPr>
        <p:spPr>
          <a:xfrm>
            <a:off x="6417534" y="4105290"/>
            <a:ext cx="5182911" cy="9510"/>
          </a:xfrm>
          <a:prstGeom prst="rect">
            <a:avLst/>
          </a:prstGeom>
          <a:solidFill>
            <a:srgbClr val="E6E9EE"/>
          </a:solidFill>
          <a:ln/>
        </p:spPr>
      </p:sp>
      <p:sp>
        <p:nvSpPr>
          <p:cNvPr id="23" name="Text 20"/>
          <p:cNvSpPr/>
          <p:nvPr/>
        </p:nvSpPr>
        <p:spPr>
          <a:xfrm>
            <a:off x="6417534" y="4265219"/>
            <a:ext cx="5182911" cy="195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10" b="1" spc="-80" kern="0" dirty="0">
                <a:solidFill>
                  <a:srgbClr val="515B7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</a:t>
            </a:r>
            <a:endParaRPr lang="en-US" sz="1110" dirty="0"/>
          </a:p>
        </p:txBody>
      </p:sp>
      <p:sp>
        <p:nvSpPr>
          <p:cNvPr id="24" name="Text 21"/>
          <p:cNvSpPr/>
          <p:nvPr/>
        </p:nvSpPr>
        <p:spPr>
          <a:xfrm>
            <a:off x="6417534" y="4528383"/>
            <a:ext cx="5182911" cy="1007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25000"/>
              </a:lnSpc>
              <a:spcAft>
                <a:spcPts val="1539"/>
              </a:spcAft>
              <a:buSzPct val="100000"/>
              <a:buChar char="•"/>
            </a:pPr>
            <a:r>
              <a:rPr lang="en-US" sz="1180" b="1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‘장마 끝, 곰팡이 전쟁’ 릴스 *8월 12일 게시</a:t>
            </a:r>
            <a:endParaRPr lang="en-US" sz="1180" dirty="0"/>
          </a:p>
          <a:p>
            <a:pPr algn="l" marL="152400" indent="-152400">
              <a:lnSpc>
                <a:spcPct val="125000"/>
              </a:lnSpc>
              <a:spcAft>
                <a:spcPts val="1539"/>
              </a:spcAft>
              <a:buSzPct val="100000"/>
              <a:buChar char="•"/>
            </a:pPr>
            <a:r>
              <a:rPr lang="en-US" sz="1180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조회수 31만 회 · 저장 4,900건</a:t>
            </a:r>
            <a:endParaRPr lang="en-US" sz="1180" dirty="0"/>
          </a:p>
          <a:p>
            <a:pPr algn="l" marL="152400" indent="-152400">
              <a:lnSpc>
                <a:spcPct val="125000"/>
              </a:lnSpc>
              <a:buSzPct val="100000"/>
              <a:buChar char="•"/>
            </a:pPr>
            <a:r>
              <a:rPr lang="en-US" sz="1180" spc="-80" kern="0" dirty="0">
                <a:solidFill>
                  <a:srgbClr val="1A24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댓글 참여율 6.2%로 채널 최고</a:t>
            </a:r>
            <a:endParaRPr lang="en-US" sz="1180" dirty="0"/>
          </a:p>
        </p:txBody>
      </p:sp>
      <p:sp>
        <p:nvSpPr>
          <p:cNvPr id="25" name="Shape 22"/>
          <p:cNvSpPr/>
          <p:nvPr/>
        </p:nvSpPr>
        <p:spPr>
          <a:xfrm>
            <a:off x="381030" y="5840913"/>
            <a:ext cx="11430000" cy="598018"/>
          </a:xfrm>
          <a:prstGeom prst="roundRect">
            <a:avLst>
              <a:gd name="adj" fmla="val 22294"/>
            </a:avLst>
          </a:prstGeom>
          <a:solidFill>
            <a:srgbClr val="1C2B55"/>
          </a:solidFill>
          <a:ln/>
          <a:effectLst>
            <a:outerShdw sx="100000" sy="100000" kx="0" ky="0" algn="bl" rotWithShape="0" blurRad="76200" dist="19050" dir="5400000">
              <a:srgbClr val="14285A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93811" y="5940674"/>
            <a:ext cx="513984" cy="398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spc="-80" kern="0" dirty="0">
                <a:solidFill>
                  <a:srgbClr val="AAC1E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특이사항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320668" y="5940674"/>
            <a:ext cx="10277490" cy="398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52400" indent="-152400">
              <a:lnSpc>
                <a:spcPct val="125000"/>
              </a:lnSpc>
              <a:spcAft>
                <a:spcPts val="414"/>
              </a:spcAft>
              <a:buSzPct val="100000"/>
              <a:buChar char="•"/>
            </a:pPr>
            <a:r>
              <a:rPr lang="en-US" sz="1050" spc="-80" kern="0" dirty="0">
                <a:solidFill>
                  <a:srgbClr val="8297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저장·공유 중심의 실용 정보형 릴스가 도달 확대를 견인</a:t>
            </a:r>
            <a:endParaRPr lang="en-US" sz="1050" dirty="0"/>
          </a:p>
          <a:p>
            <a:pPr algn="l" marL="152400" indent="-152400">
              <a:lnSpc>
                <a:spcPct val="125000"/>
              </a:lnSpc>
              <a:buSzPct val="100000"/>
              <a:buChar char="•"/>
            </a:pPr>
            <a:r>
              <a:rPr lang="en-US" sz="1050" spc="-80" kern="0" dirty="0">
                <a:solidFill>
                  <a:srgbClr val="8297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[입력 필요: 9월 협업 크리에이터 일정]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로고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925160" y="285750"/>
            <a:ext cx="761970" cy="1904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50308" y="2119305"/>
            <a:ext cx="704820" cy="238110"/>
          </a:xfrm>
          <a:prstGeom prst="roundRect">
            <a:avLst>
              <a:gd name="adj" fmla="val 12020"/>
            </a:avLst>
          </a:prstGeom>
          <a:solidFill>
            <a:srgbClr val="C8A24B"/>
          </a:solidFill>
          <a:ln/>
        </p:spPr>
      </p:sp>
      <p:sp>
        <p:nvSpPr>
          <p:cNvPr id="4" name="Text 1"/>
          <p:cNvSpPr/>
          <p:nvPr/>
        </p:nvSpPr>
        <p:spPr>
          <a:xfrm>
            <a:off x="4750308" y="2119305"/>
            <a:ext cx="70482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spc="-80" kern="0" dirty="0">
                <a:solidFill>
                  <a:srgbClr val="1436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 보고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550408" y="2119305"/>
            <a:ext cx="208181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80" spc="-8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브리즈홈 마케팅 월간 보고</a:t>
            </a:r>
            <a:endParaRPr lang="en-US" sz="1280" dirty="0"/>
          </a:p>
        </p:txBody>
      </p:sp>
      <p:sp>
        <p:nvSpPr>
          <p:cNvPr id="6" name="Text 3"/>
          <p:cNvSpPr/>
          <p:nvPr/>
        </p:nvSpPr>
        <p:spPr>
          <a:xfrm>
            <a:off x="381030" y="2605126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spc="-300" kern="0" dirty="0">
                <a:solidFill>
                  <a:srgbClr val="FFFFFF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감사합니다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381030" y="3671865"/>
            <a:ext cx="1143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spc="-8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브리즈홈 마케팅팀 · 2026년 8월 성과 보고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381280" y="4167195"/>
            <a:ext cx="7429500" cy="95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2381280" y="4357665"/>
            <a:ext cx="2476470" cy="13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80" b="1" spc="12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</a:t>
            </a:r>
            <a:endParaRPr lang="en-US" sz="680" dirty="0"/>
          </a:p>
        </p:txBody>
      </p:sp>
      <p:sp>
        <p:nvSpPr>
          <p:cNvPr id="10" name="Text 7"/>
          <p:cNvSpPr/>
          <p:nvPr/>
        </p:nvSpPr>
        <p:spPr>
          <a:xfrm>
            <a:off x="2381280" y="4519605"/>
            <a:ext cx="2476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30" b="1" spc="-8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마케팅팀</a:t>
            </a:r>
            <a:endParaRPr lang="en-US" sz="1130" dirty="0"/>
          </a:p>
        </p:txBody>
      </p:sp>
      <p:sp>
        <p:nvSpPr>
          <p:cNvPr id="11" name="Text 8"/>
          <p:cNvSpPr/>
          <p:nvPr/>
        </p:nvSpPr>
        <p:spPr>
          <a:xfrm>
            <a:off x="4857750" y="4357665"/>
            <a:ext cx="2476470" cy="13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80" b="1" spc="12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집계 기간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4857750" y="4519605"/>
            <a:ext cx="2476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30" b="1" spc="-8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2026.08.01 – 2026.08.31</a:t>
            </a:r>
            <a:endParaRPr lang="en-US" sz="1130" dirty="0"/>
          </a:p>
        </p:txBody>
      </p:sp>
      <p:sp>
        <p:nvSpPr>
          <p:cNvPr id="13" name="Text 10"/>
          <p:cNvSpPr/>
          <p:nvPr/>
        </p:nvSpPr>
        <p:spPr>
          <a:xfrm>
            <a:off x="7334220" y="4357665"/>
            <a:ext cx="2476470" cy="13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80" b="1" spc="12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</a:t>
            </a:r>
            <a:endParaRPr lang="en-US" sz="680" dirty="0"/>
          </a:p>
        </p:txBody>
      </p:sp>
      <p:sp>
        <p:nvSpPr>
          <p:cNvPr id="14" name="Text 11"/>
          <p:cNvSpPr/>
          <p:nvPr/>
        </p:nvSpPr>
        <p:spPr>
          <a:xfrm>
            <a:off x="7334220" y="4519605"/>
            <a:ext cx="2476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30" b="1" spc="-8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marketing@example.com</a:t>
            </a:r>
            <a:endParaRPr lang="en-US" sz="11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브리즈홈 8월 마케팅 성과 보고</dc:title>
  <dc:subject>PptxGenJS Presentation</dc:subject>
  <dc:creator>브리즈홈</dc:creator>
  <cp:lastModifiedBy>브리즈홈</cp:lastModifiedBy>
  <cp:revision>1</cp:revision>
  <dcterms:created xsi:type="dcterms:W3CDTF">2026-09-21T05:12:37Z</dcterms:created>
  <dcterms:modified xsi:type="dcterms:W3CDTF">2026-09-21T05:12:37Z</dcterms:modified>
</cp:coreProperties>
</file>