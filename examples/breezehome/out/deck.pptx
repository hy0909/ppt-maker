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조회수</c:v>
                </c:pt>
              </c:strCache>
            </c:strRef>
          </c:tx>
          <c:spPr>
            <a:solidFill>
              <a:srgbClr val="1E5BB8"/>
            </a:solidFill>
            <a:ln w="25400" cap="flat">
              <a:solidFill>
                <a:srgbClr val="1E5BB8"/>
              </a:solidFill>
              <a:prstDash val="solid"/>
              <a:round/>
            </a:ln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1" i="0" strike="noStrike" sz="750" u="none">
                    <a:solidFill>
                      <a:srgbClr val="1A2438"/>
                    </a:solidFill>
                    <a:latin typeface="Pretendar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E5BB8"/>
              </a:solidFill>
              <a:ln w="19050" cap="flat">
                <a:solidFill>
                  <a:srgbClr val="1E5B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5월</c:v>
                  </c:pt>
                  <c:pt idx="1">
                    <c:v>6월</c:v>
                  </c:pt>
                  <c:pt idx="2">
                    <c:v>7월</c:v>
                  </c:pt>
                  <c:pt idx="3">
                    <c:v>8월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28</c:v>
                </c:pt>
                <c:pt idx="2">
                  <c:v>31</c:v>
                </c:pt>
                <c:pt idx="3">
                  <c:v>42</c:v>
                </c:pt>
              </c:numCache>
            </c:numRef>
          </c:val>
          <c:smooth val="0"/>
        </c:ser>
        <c:dLbls>
          <c:numFmt formatCode="#,##0.##" sourceLinked="0"/>
          <c:txPr>
            <a:bodyPr/>
            <a:lstStyle/>
            <a:p>
              <a:pPr>
                <a:defRPr b="1" i="0" strike="noStrike" sz="750" u="none">
                  <a:solidFill>
                    <a:srgbClr val="1A2438"/>
                  </a:solidFill>
                  <a:latin typeface="Pretendar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CFD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4A556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F7FA"/>
        </a:solidFill>
        <a:ln>
          <a:noFill/>
        </a:ln>
        <a:effectLst/>
      </c:spPr>
    </c:plotArea>
    <c:plotVisOnly val="1"/>
    <c:dispBlanksAs val="span"/>
  </c:chart>
  <c:spPr>
    <a:solidFill>
      <a:srgbClr val="F5F7F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도달</c:v>
                </c:pt>
              </c:strCache>
            </c:strRef>
          </c:tx>
          <c:spPr>
            <a:solidFill>
              <a:srgbClr val="1E5BB8"/>
            </a:solidFill>
            <a:ln w="25400" cap="flat">
              <a:solidFill>
                <a:srgbClr val="1E5BB8"/>
              </a:solidFill>
              <a:prstDash val="solid"/>
              <a:round/>
            </a:ln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1" i="0" strike="noStrike" sz="750" u="none">
                    <a:solidFill>
                      <a:srgbClr val="1A2438"/>
                    </a:solidFill>
                    <a:latin typeface="Pretendar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E5BB8"/>
              </a:solidFill>
              <a:ln w="19050" cap="flat">
                <a:solidFill>
                  <a:srgbClr val="1E5B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5월</c:v>
                  </c:pt>
                  <c:pt idx="1">
                    <c:v>6월</c:v>
                  </c:pt>
                  <c:pt idx="2">
                    <c:v>7월</c:v>
                  </c:pt>
                  <c:pt idx="3">
                    <c:v>8월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</c:v>
                </c:pt>
                <c:pt idx="1">
                  <c:v>45</c:v>
                </c:pt>
                <c:pt idx="2">
                  <c:v>49</c:v>
                </c:pt>
                <c:pt idx="3">
                  <c:v>58</c:v>
                </c:pt>
              </c:numCache>
            </c:numRef>
          </c:val>
          <c:smooth val="0"/>
        </c:ser>
        <c:dLbls>
          <c:numFmt formatCode="#,##0.##" sourceLinked="0"/>
          <c:txPr>
            <a:bodyPr/>
            <a:lstStyle/>
            <a:p>
              <a:pPr>
                <a:defRPr b="1" i="0" strike="noStrike" sz="750" u="none">
                  <a:solidFill>
                    <a:srgbClr val="1A2438"/>
                  </a:solidFill>
                  <a:latin typeface="Pretendar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CFD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4A556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F7FA"/>
        </a:solidFill>
        <a:ln>
          <a:noFill/>
        </a:ln>
        <a:effectLst/>
      </c:spPr>
    </c:plotArea>
    <c:plotVisOnly val="1"/>
    <c:dispBlanksAs val="span"/>
  </c:chart>
  <c:spPr>
    <a:solidFill>
      <a:srgbClr val="F5F7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765" y="533370"/>
            <a:ext cx="5050140" cy="79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0"/>
              </a:lnSpc>
              <a:buNone/>
            </a:pPr>
            <a:r>
              <a:rPr lang="en-US" sz="1800" spc="-80" kern="0" dirty="0">
                <a:solidFill>
                  <a:srgbClr val="E7E6E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매출 · ROAS · 신규 고객 · 도달 및 채널별 성과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65831" y="1114471"/>
            <a:ext cx="6858000" cy="1639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4800" spc="-100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브리즈홈 8월 마케팅 성과 보고</a:t>
            </a:r>
            <a:endParaRPr lang="en-US" sz="4800" dirty="0"/>
          </a:p>
        </p:txBody>
      </p:sp>
      <p:pic>
        <p:nvPicPr>
          <p:cNvPr id="4" name="Image 0" descr="logo_h_whi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75340" y="5842650"/>
            <a:ext cx="1928835" cy="4819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392625" y="6066495"/>
            <a:ext cx="2348911" cy="377190"/>
          </a:xfrm>
          <a:prstGeom prst="rect">
            <a:avLst/>
          </a:prstGeom>
          <a:solidFill>
            <a:srgbClr val="374C6B"/>
          </a:solidFill>
          <a:ln/>
        </p:spPr>
      </p:sp>
      <p:sp>
        <p:nvSpPr>
          <p:cNvPr id="6" name="Text 3"/>
          <p:cNvSpPr/>
          <p:nvPr/>
        </p:nvSpPr>
        <p:spPr>
          <a:xfrm>
            <a:off x="9567824" y="6066495"/>
            <a:ext cx="19983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40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브리즈홈 마케팅 월간 보고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C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30" y="285750"/>
            <a:ext cx="10668030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3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8월 성과 요약</a:t>
            </a:r>
            <a:endParaRPr lang="en-US" sz="1130" dirty="0"/>
          </a:p>
        </p:txBody>
      </p:sp>
      <p:sp>
        <p:nvSpPr>
          <p:cNvPr id="3" name="Text 1"/>
          <p:cNvSpPr/>
          <p:nvPr/>
        </p:nvSpPr>
        <p:spPr>
          <a:xfrm>
            <a:off x="11048970" y="285750"/>
            <a:ext cx="761970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980" spc="-80" kern="0" dirty="0">
                <a:solidFill>
                  <a:srgbClr val="8B95A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381030" y="581010"/>
            <a:ext cx="1047747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spc="-80" kern="0" dirty="0">
                <a:solidFill>
                  <a:srgbClr val="10141C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매출 · ROAS · 신규 고객 · 도달 네 항목 모두 </a:t>
            </a:r>
            <a:pPr algn="l" indent="0" marL="0">
              <a:buNone/>
            </a:pPr>
            <a:r>
              <a:rPr lang="en-US" sz="3150" spc="-80" kern="0" dirty="0">
                <a:solidFill>
                  <a:srgbClr val="10141C"/>
                </a:solidFill>
                <a:latin typeface="Paperlogy 8 ExtraBold" pitchFamily="34" charset="0"/>
                <a:ea typeface="Paperlogy 8 ExtraBold" pitchFamily="34" charset="-122"/>
                <a:cs typeface="Paperlogy 8 ExtraBold" pitchFamily="34" charset="-120"/>
              </a:rPr>
              <a:t>8월 목표치를 초과 달성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381030" y="1104870"/>
            <a:ext cx="11430000" cy="9510"/>
          </a:xfrm>
          <a:prstGeom prst="rect">
            <a:avLst/>
          </a:prstGeom>
          <a:solidFill>
            <a:srgbClr val="CFD4DC"/>
          </a:solidFill>
          <a:ln/>
        </p:spPr>
      </p:sp>
      <p:sp>
        <p:nvSpPr>
          <p:cNvPr id="6" name="Text 4"/>
          <p:cNvSpPr/>
          <p:nvPr/>
        </p:nvSpPr>
        <p:spPr>
          <a:xfrm>
            <a:off x="381030" y="1362090"/>
            <a:ext cx="10477470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집계 기간: 2026.08.01 – 2026.08.31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1030" y="2095530"/>
            <a:ext cx="5632521" cy="435437"/>
          </a:xfrm>
          <a:prstGeom prst="roundRect">
            <a:avLst>
              <a:gd name="adj" fmla="val 49895"/>
            </a:avLst>
          </a:prstGeom>
          <a:solidFill>
            <a:srgbClr val="14366B"/>
          </a:solidFill>
          <a:ln/>
        </p:spPr>
      </p:sp>
      <p:sp>
        <p:nvSpPr>
          <p:cNvPr id="8" name="Text 6"/>
          <p:cNvSpPr/>
          <p:nvPr/>
        </p:nvSpPr>
        <p:spPr>
          <a:xfrm>
            <a:off x="381030" y="2095530"/>
            <a:ext cx="5632521" cy="435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6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</a:t>
            </a:r>
            <a:endParaRPr lang="en-US" sz="1760" dirty="0"/>
          </a:p>
        </p:txBody>
      </p:sp>
      <p:sp>
        <p:nvSpPr>
          <p:cNvPr id="9" name="Shape 7"/>
          <p:cNvSpPr/>
          <p:nvPr/>
        </p:nvSpPr>
        <p:spPr>
          <a:xfrm>
            <a:off x="381030" y="2577236"/>
            <a:ext cx="5632521" cy="1247242"/>
          </a:xfrm>
          <a:prstGeom prst="roundRect">
            <a:avLst>
              <a:gd name="adj" fmla="val 14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97378" y="2832903"/>
            <a:ext cx="1111453" cy="364114"/>
          </a:xfrm>
          <a:prstGeom prst="rect">
            <a:avLst/>
          </a:prstGeom>
          <a:solidFill>
            <a:srgbClr val="F5F7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7380" y="2832903"/>
            <a:ext cx="891631" cy="364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8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7월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1708922" y="2832903"/>
            <a:ext cx="1813438" cy="36411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18833" y="2832903"/>
            <a:ext cx="1593616" cy="364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7,500만 원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597378" y="3197017"/>
            <a:ext cx="1111453" cy="364114"/>
          </a:xfrm>
          <a:prstGeom prst="rect">
            <a:avLst/>
          </a:prstGeom>
          <a:solidFill>
            <a:srgbClr val="F5F7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7380" y="3197017"/>
            <a:ext cx="891631" cy="364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8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8월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1708922" y="3197017"/>
            <a:ext cx="1813438" cy="36411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18833" y="3197017"/>
            <a:ext cx="1593616" cy="364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8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3억 2,400만 원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3707892" y="2832903"/>
            <a:ext cx="2089313" cy="728228"/>
          </a:xfrm>
          <a:prstGeom prst="roundRect">
            <a:avLst>
              <a:gd name="adj" fmla="val 13084"/>
            </a:avLst>
          </a:prstGeom>
          <a:solidFill>
            <a:srgbClr val="F2F5FB"/>
          </a:solidFill>
          <a:ln/>
        </p:spPr>
      </p:sp>
      <p:sp>
        <p:nvSpPr>
          <p:cNvPr id="19" name="Text 17"/>
          <p:cNvSpPr/>
          <p:nvPr/>
        </p:nvSpPr>
        <p:spPr>
          <a:xfrm>
            <a:off x="3707892" y="2989905"/>
            <a:ext cx="2089313" cy="20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전월대비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3707892" y="3196011"/>
            <a:ext cx="2089313" cy="208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3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18% 증가</a:t>
            </a:r>
            <a:endParaRPr lang="en-US" sz="1430" dirty="0"/>
          </a:p>
        </p:txBody>
      </p:sp>
      <p:sp>
        <p:nvSpPr>
          <p:cNvPr id="21" name="Shape 19"/>
          <p:cNvSpPr/>
          <p:nvPr/>
        </p:nvSpPr>
        <p:spPr>
          <a:xfrm>
            <a:off x="6178418" y="2095530"/>
            <a:ext cx="5632521" cy="435437"/>
          </a:xfrm>
          <a:prstGeom prst="roundRect">
            <a:avLst>
              <a:gd name="adj" fmla="val 49895"/>
            </a:avLst>
          </a:prstGeom>
          <a:solidFill>
            <a:srgbClr val="14366B"/>
          </a:solidFill>
          <a:ln/>
        </p:spPr>
      </p:sp>
      <p:sp>
        <p:nvSpPr>
          <p:cNvPr id="22" name="Text 20"/>
          <p:cNvSpPr/>
          <p:nvPr/>
        </p:nvSpPr>
        <p:spPr>
          <a:xfrm>
            <a:off x="6178418" y="2095530"/>
            <a:ext cx="5632521" cy="435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6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신규 고객</a:t>
            </a:r>
            <a:endParaRPr lang="en-US" sz="1760" dirty="0"/>
          </a:p>
        </p:txBody>
      </p:sp>
      <p:sp>
        <p:nvSpPr>
          <p:cNvPr id="23" name="Shape 21"/>
          <p:cNvSpPr/>
          <p:nvPr/>
        </p:nvSpPr>
        <p:spPr>
          <a:xfrm>
            <a:off x="6178418" y="2577236"/>
            <a:ext cx="5632521" cy="1247242"/>
          </a:xfrm>
          <a:prstGeom prst="roundRect">
            <a:avLst>
              <a:gd name="adj" fmla="val 14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94856" y="2832903"/>
            <a:ext cx="1111453" cy="364114"/>
          </a:xfrm>
          <a:prstGeom prst="rect">
            <a:avLst/>
          </a:prstGeom>
          <a:solidFill>
            <a:srgbClr val="F5F7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04767" y="2832903"/>
            <a:ext cx="891631" cy="364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8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7월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7506310" y="2832903"/>
            <a:ext cx="1813438" cy="36411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16312" y="2832903"/>
            <a:ext cx="1593616" cy="364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4,342명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6394856" y="3197017"/>
            <a:ext cx="1111453" cy="364114"/>
          </a:xfrm>
          <a:prstGeom prst="rect">
            <a:avLst/>
          </a:prstGeom>
          <a:solidFill>
            <a:srgbClr val="F5F7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04767" y="3197017"/>
            <a:ext cx="891631" cy="364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8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8월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7506310" y="3197017"/>
            <a:ext cx="1813438" cy="36411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16312" y="3197017"/>
            <a:ext cx="1593616" cy="364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8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4,820명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9505279" y="2832903"/>
            <a:ext cx="2089313" cy="728228"/>
          </a:xfrm>
          <a:prstGeom prst="roundRect">
            <a:avLst>
              <a:gd name="adj" fmla="val 13084"/>
            </a:avLst>
          </a:prstGeom>
          <a:solidFill>
            <a:srgbClr val="F2F5FB"/>
          </a:solidFill>
          <a:ln/>
        </p:spPr>
      </p:sp>
      <p:sp>
        <p:nvSpPr>
          <p:cNvPr id="33" name="Text 31"/>
          <p:cNvSpPr/>
          <p:nvPr/>
        </p:nvSpPr>
        <p:spPr>
          <a:xfrm>
            <a:off x="9505279" y="2989905"/>
            <a:ext cx="2089313" cy="20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전월대비</a:t>
            </a:r>
            <a:endParaRPr lang="en-US" sz="1080" dirty="0"/>
          </a:p>
        </p:txBody>
      </p:sp>
      <p:sp>
        <p:nvSpPr>
          <p:cNvPr id="34" name="Text 32"/>
          <p:cNvSpPr/>
          <p:nvPr/>
        </p:nvSpPr>
        <p:spPr>
          <a:xfrm>
            <a:off x="9505279" y="3196011"/>
            <a:ext cx="2089313" cy="208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3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11% 증가</a:t>
            </a:r>
            <a:endParaRPr lang="en-US" sz="1430" dirty="0"/>
          </a:p>
        </p:txBody>
      </p:sp>
      <p:sp>
        <p:nvSpPr>
          <p:cNvPr id="35" name="Shape 33"/>
          <p:cNvSpPr/>
          <p:nvPr/>
        </p:nvSpPr>
        <p:spPr>
          <a:xfrm>
            <a:off x="381030" y="3989344"/>
            <a:ext cx="5632521" cy="435437"/>
          </a:xfrm>
          <a:prstGeom prst="roundRect">
            <a:avLst>
              <a:gd name="adj" fmla="val 49895"/>
            </a:avLst>
          </a:prstGeom>
          <a:solidFill>
            <a:srgbClr val="14366B"/>
          </a:solidFill>
          <a:ln/>
        </p:spPr>
      </p:sp>
      <p:sp>
        <p:nvSpPr>
          <p:cNvPr id="36" name="Text 34"/>
          <p:cNvSpPr/>
          <p:nvPr/>
        </p:nvSpPr>
        <p:spPr>
          <a:xfrm>
            <a:off x="381030" y="3989344"/>
            <a:ext cx="5632521" cy="435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6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도달</a:t>
            </a:r>
            <a:endParaRPr lang="en-US" sz="1760" dirty="0"/>
          </a:p>
        </p:txBody>
      </p:sp>
      <p:sp>
        <p:nvSpPr>
          <p:cNvPr id="37" name="Shape 35"/>
          <p:cNvSpPr/>
          <p:nvPr/>
        </p:nvSpPr>
        <p:spPr>
          <a:xfrm>
            <a:off x="381030" y="4471142"/>
            <a:ext cx="5632521" cy="1247242"/>
          </a:xfrm>
          <a:prstGeom prst="roundRect">
            <a:avLst>
              <a:gd name="adj" fmla="val 14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97378" y="4726808"/>
            <a:ext cx="1111453" cy="364114"/>
          </a:xfrm>
          <a:prstGeom prst="rect">
            <a:avLst/>
          </a:prstGeom>
          <a:solidFill>
            <a:srgbClr val="F5F7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07380" y="4726808"/>
            <a:ext cx="891631" cy="364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8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7월</a:t>
            </a:r>
            <a:endParaRPr lang="en-US" sz="1080" dirty="0"/>
          </a:p>
        </p:txBody>
      </p:sp>
      <p:sp>
        <p:nvSpPr>
          <p:cNvPr id="40" name="Shape 38"/>
          <p:cNvSpPr/>
          <p:nvPr/>
        </p:nvSpPr>
        <p:spPr>
          <a:xfrm>
            <a:off x="1708922" y="4726808"/>
            <a:ext cx="1813438" cy="36411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818833" y="4726808"/>
            <a:ext cx="1593616" cy="364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172만 명</a:t>
            </a:r>
            <a:endParaRPr lang="en-US" sz="1080" dirty="0"/>
          </a:p>
        </p:txBody>
      </p:sp>
      <p:sp>
        <p:nvSpPr>
          <p:cNvPr id="42" name="Shape 40"/>
          <p:cNvSpPr/>
          <p:nvPr/>
        </p:nvSpPr>
        <p:spPr>
          <a:xfrm>
            <a:off x="597378" y="5090922"/>
            <a:ext cx="1111453" cy="364114"/>
          </a:xfrm>
          <a:prstGeom prst="rect">
            <a:avLst/>
          </a:prstGeom>
          <a:solidFill>
            <a:srgbClr val="F5F7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7380" y="5090922"/>
            <a:ext cx="891631" cy="364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8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8월</a:t>
            </a:r>
            <a:endParaRPr lang="en-US" sz="1080" dirty="0"/>
          </a:p>
        </p:txBody>
      </p:sp>
      <p:sp>
        <p:nvSpPr>
          <p:cNvPr id="44" name="Shape 42"/>
          <p:cNvSpPr/>
          <p:nvPr/>
        </p:nvSpPr>
        <p:spPr>
          <a:xfrm>
            <a:off x="1708922" y="5090922"/>
            <a:ext cx="1813438" cy="36411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818833" y="5090922"/>
            <a:ext cx="1593616" cy="364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8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187만 명</a:t>
            </a:r>
            <a:endParaRPr lang="en-US" sz="1080" dirty="0"/>
          </a:p>
        </p:txBody>
      </p:sp>
      <p:sp>
        <p:nvSpPr>
          <p:cNvPr id="46" name="Shape 44"/>
          <p:cNvSpPr/>
          <p:nvPr/>
        </p:nvSpPr>
        <p:spPr>
          <a:xfrm>
            <a:off x="3707892" y="4726808"/>
            <a:ext cx="2089313" cy="728228"/>
          </a:xfrm>
          <a:prstGeom prst="roundRect">
            <a:avLst>
              <a:gd name="adj" fmla="val 13084"/>
            </a:avLst>
          </a:prstGeom>
          <a:solidFill>
            <a:srgbClr val="F2F5FB"/>
          </a:solidFill>
          <a:ln/>
        </p:spPr>
      </p:sp>
      <p:sp>
        <p:nvSpPr>
          <p:cNvPr id="47" name="Text 45"/>
          <p:cNvSpPr/>
          <p:nvPr/>
        </p:nvSpPr>
        <p:spPr>
          <a:xfrm>
            <a:off x="3707892" y="4883719"/>
            <a:ext cx="2089313" cy="20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전월대비</a:t>
            </a:r>
            <a:endParaRPr lang="en-US" sz="1080" dirty="0"/>
          </a:p>
        </p:txBody>
      </p:sp>
      <p:sp>
        <p:nvSpPr>
          <p:cNvPr id="48" name="Text 46"/>
          <p:cNvSpPr/>
          <p:nvPr/>
        </p:nvSpPr>
        <p:spPr>
          <a:xfrm>
            <a:off x="3707892" y="5089825"/>
            <a:ext cx="2089313" cy="208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3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9% 증가</a:t>
            </a:r>
            <a:endParaRPr lang="en-US" sz="1430" dirty="0"/>
          </a:p>
        </p:txBody>
      </p:sp>
      <p:sp>
        <p:nvSpPr>
          <p:cNvPr id="49" name="Shape 47"/>
          <p:cNvSpPr/>
          <p:nvPr/>
        </p:nvSpPr>
        <p:spPr>
          <a:xfrm>
            <a:off x="6178418" y="3989344"/>
            <a:ext cx="5632521" cy="435437"/>
          </a:xfrm>
          <a:prstGeom prst="roundRect">
            <a:avLst>
              <a:gd name="adj" fmla="val 49895"/>
            </a:avLst>
          </a:prstGeom>
          <a:solidFill>
            <a:srgbClr val="14366B"/>
          </a:solidFill>
          <a:ln/>
        </p:spPr>
      </p:sp>
      <p:sp>
        <p:nvSpPr>
          <p:cNvPr id="50" name="Text 48"/>
          <p:cNvSpPr/>
          <p:nvPr/>
        </p:nvSpPr>
        <p:spPr>
          <a:xfrm>
            <a:off x="6178418" y="3989344"/>
            <a:ext cx="5632521" cy="435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6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ROAS</a:t>
            </a:r>
            <a:endParaRPr lang="en-US" sz="1760" dirty="0"/>
          </a:p>
        </p:txBody>
      </p:sp>
      <p:sp>
        <p:nvSpPr>
          <p:cNvPr id="51" name="Shape 49"/>
          <p:cNvSpPr/>
          <p:nvPr/>
        </p:nvSpPr>
        <p:spPr>
          <a:xfrm>
            <a:off x="6178418" y="4471142"/>
            <a:ext cx="5632521" cy="1247242"/>
          </a:xfrm>
          <a:prstGeom prst="roundRect">
            <a:avLst>
              <a:gd name="adj" fmla="val 14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394856" y="4726808"/>
            <a:ext cx="1111453" cy="364114"/>
          </a:xfrm>
          <a:prstGeom prst="rect">
            <a:avLst/>
          </a:prstGeom>
          <a:solidFill>
            <a:srgbClr val="F5F7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04767" y="4726808"/>
            <a:ext cx="891631" cy="364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8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</a:t>
            </a:r>
            <a:endParaRPr lang="en-US" sz="1080" dirty="0"/>
          </a:p>
        </p:txBody>
      </p:sp>
      <p:sp>
        <p:nvSpPr>
          <p:cNvPr id="54" name="Shape 52"/>
          <p:cNvSpPr/>
          <p:nvPr/>
        </p:nvSpPr>
        <p:spPr>
          <a:xfrm>
            <a:off x="7506310" y="4726808"/>
            <a:ext cx="1813438" cy="36411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16312" y="4726808"/>
            <a:ext cx="1593616" cy="364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380%</a:t>
            </a:r>
            <a:endParaRPr lang="en-US" sz="1080" dirty="0"/>
          </a:p>
        </p:txBody>
      </p:sp>
      <p:sp>
        <p:nvSpPr>
          <p:cNvPr id="56" name="Shape 54"/>
          <p:cNvSpPr/>
          <p:nvPr/>
        </p:nvSpPr>
        <p:spPr>
          <a:xfrm>
            <a:off x="6394856" y="5090922"/>
            <a:ext cx="1111453" cy="364114"/>
          </a:xfrm>
          <a:prstGeom prst="rect">
            <a:avLst/>
          </a:prstGeom>
          <a:solidFill>
            <a:srgbClr val="F5F7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04767" y="5090922"/>
            <a:ext cx="891631" cy="364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8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8월</a:t>
            </a:r>
            <a:endParaRPr lang="en-US" sz="1080" dirty="0"/>
          </a:p>
        </p:txBody>
      </p:sp>
      <p:sp>
        <p:nvSpPr>
          <p:cNvPr id="58" name="Shape 56"/>
          <p:cNvSpPr/>
          <p:nvPr/>
        </p:nvSpPr>
        <p:spPr>
          <a:xfrm>
            <a:off x="7506310" y="5090922"/>
            <a:ext cx="1813438" cy="36411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616312" y="5090922"/>
            <a:ext cx="1593616" cy="364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8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412%</a:t>
            </a:r>
            <a:endParaRPr lang="en-US" sz="1080" dirty="0"/>
          </a:p>
        </p:txBody>
      </p:sp>
      <p:sp>
        <p:nvSpPr>
          <p:cNvPr id="60" name="Shape 58"/>
          <p:cNvSpPr/>
          <p:nvPr/>
        </p:nvSpPr>
        <p:spPr>
          <a:xfrm>
            <a:off x="9505279" y="4726808"/>
            <a:ext cx="2089313" cy="728228"/>
          </a:xfrm>
          <a:prstGeom prst="roundRect">
            <a:avLst>
              <a:gd name="adj" fmla="val 13084"/>
            </a:avLst>
          </a:prstGeom>
          <a:solidFill>
            <a:srgbClr val="F2F5FB"/>
          </a:solidFill>
          <a:ln/>
        </p:spPr>
      </p:sp>
      <p:sp>
        <p:nvSpPr>
          <p:cNvPr id="61" name="Text 59"/>
          <p:cNvSpPr/>
          <p:nvPr/>
        </p:nvSpPr>
        <p:spPr>
          <a:xfrm>
            <a:off x="9505279" y="4883719"/>
            <a:ext cx="2089313" cy="20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8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목표대비</a:t>
            </a:r>
            <a:endParaRPr lang="en-US" sz="1080" dirty="0"/>
          </a:p>
        </p:txBody>
      </p:sp>
      <p:sp>
        <p:nvSpPr>
          <p:cNvPr id="62" name="Text 60"/>
          <p:cNvSpPr/>
          <p:nvPr/>
        </p:nvSpPr>
        <p:spPr>
          <a:xfrm>
            <a:off x="9505279" y="5089825"/>
            <a:ext cx="2089313" cy="208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3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8% 초과</a:t>
            </a:r>
            <a:endParaRPr lang="en-US" sz="1430" dirty="0"/>
          </a:p>
        </p:txBody>
      </p:sp>
      <p:sp>
        <p:nvSpPr>
          <p:cNvPr id="63" name="Shape 61"/>
          <p:cNvSpPr/>
          <p:nvPr/>
        </p:nvSpPr>
        <p:spPr>
          <a:xfrm>
            <a:off x="381030" y="5821436"/>
            <a:ext cx="11430000" cy="617494"/>
          </a:xfrm>
          <a:prstGeom prst="roundRect">
            <a:avLst>
              <a:gd name="adj" fmla="val 21590"/>
            </a:avLst>
          </a:prstGeom>
          <a:solidFill>
            <a:srgbClr val="1C2B55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600852" y="5924489"/>
            <a:ext cx="530901" cy="411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40" b="1" spc="-80" kern="0" dirty="0">
                <a:solidFill>
                  <a:srgbClr val="AAC1E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특이사항</a:t>
            </a:r>
            <a:endParaRPr lang="en-US" sz="1140" dirty="0"/>
          </a:p>
        </p:txBody>
      </p:sp>
      <p:sp>
        <p:nvSpPr>
          <p:cNvPr id="65" name="Text 63"/>
          <p:cNvSpPr/>
          <p:nvPr/>
        </p:nvSpPr>
        <p:spPr>
          <a:xfrm>
            <a:off x="1351666" y="5924489"/>
            <a:ext cx="10239543" cy="411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65100" indent="-165100">
              <a:lnSpc>
                <a:spcPct val="125000"/>
              </a:lnSpc>
              <a:spcAft>
                <a:spcPts val="426"/>
              </a:spcAft>
              <a:buSzPct val="100000"/>
              <a:buChar char="•"/>
            </a:pPr>
            <a:r>
              <a:rPr lang="en-US" sz="1080" spc="-80" kern="0" dirty="0">
                <a:solidFill>
                  <a:srgbClr val="8297B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성수기 막바지 프로모션과 신제품 미니 제습기 출시 효과가 맞물리며 주요 지표가 모두 목표치 초과 달성</a:t>
            </a:r>
            <a:endParaRPr lang="en-US" sz="1080" dirty="0"/>
          </a:p>
          <a:p>
            <a:pPr algn="l" marL="165100" indent="-165100">
              <a:lnSpc>
                <a:spcPct val="125000"/>
              </a:lnSpc>
              <a:buSzPct val="100000"/>
              <a:buChar char="•"/>
            </a:pPr>
            <a:r>
              <a:rPr lang="en-US" sz="1080" spc="-80" kern="0" dirty="0">
                <a:solidFill>
                  <a:srgbClr val="8297B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특정 채널에 편중되지 않고 유튜브, 인스타그램, 블로그 세 채널이 고르게 성장</a:t>
            </a:r>
            <a:endParaRPr lang="en-US" sz="10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C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30" y="285750"/>
            <a:ext cx="10668030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3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채널별 성과</a:t>
            </a:r>
            <a:endParaRPr lang="en-US" sz="1130" dirty="0"/>
          </a:p>
        </p:txBody>
      </p:sp>
      <p:sp>
        <p:nvSpPr>
          <p:cNvPr id="3" name="Text 1"/>
          <p:cNvSpPr/>
          <p:nvPr/>
        </p:nvSpPr>
        <p:spPr>
          <a:xfrm>
            <a:off x="11048970" y="285750"/>
            <a:ext cx="761970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980" spc="-80" kern="0" dirty="0">
                <a:solidFill>
                  <a:srgbClr val="8B95A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381030" y="581010"/>
            <a:ext cx="1047747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spc="-80" kern="0" dirty="0">
                <a:solidFill>
                  <a:srgbClr val="10141C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8월 한 달간 </a:t>
            </a:r>
            <a:pPr algn="l" indent="0" marL="0">
              <a:buNone/>
            </a:pPr>
            <a:r>
              <a:rPr lang="en-US" sz="3150" spc="-80" kern="0" dirty="0">
                <a:solidFill>
                  <a:srgbClr val="10141C"/>
                </a:solidFill>
                <a:latin typeface="Paperlogy 8 ExtraBold" pitchFamily="34" charset="0"/>
                <a:ea typeface="Paperlogy 8 ExtraBold" pitchFamily="34" charset="-122"/>
                <a:cs typeface="Paperlogy 8 ExtraBold" pitchFamily="34" charset="-120"/>
              </a:rPr>
              <a:t>42만 회의 조회수</a:t>
            </a:r>
            <a:pPr algn="l" indent="0" marL="0">
              <a:buNone/>
            </a:pPr>
            <a:r>
              <a:rPr lang="en-US" sz="3150" spc="-80" kern="0" dirty="0">
                <a:solidFill>
                  <a:srgbClr val="10141C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를 기록하며 </a:t>
            </a:r>
            <a:pPr algn="l" indent="0" marL="0">
              <a:buNone/>
            </a:pPr>
            <a:r>
              <a:rPr lang="en-US" sz="3150" spc="-80" kern="0" dirty="0">
                <a:solidFill>
                  <a:srgbClr val="10141C"/>
                </a:solidFill>
                <a:latin typeface="Paperlogy 8 ExtraBold" pitchFamily="34" charset="0"/>
                <a:ea typeface="Paperlogy 8 ExtraBold" pitchFamily="34" charset="-122"/>
                <a:cs typeface="Paperlogy 8 ExtraBold" pitchFamily="34" charset="-120"/>
              </a:rPr>
              <a:t>전월 대비 35% 성장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381030" y="1104870"/>
            <a:ext cx="11430000" cy="9510"/>
          </a:xfrm>
          <a:prstGeom prst="rect">
            <a:avLst/>
          </a:prstGeom>
          <a:solidFill>
            <a:srgbClr val="CFD4DC"/>
          </a:solidFill>
          <a:ln/>
        </p:spPr>
      </p:sp>
      <p:sp>
        <p:nvSpPr>
          <p:cNvPr id="6" name="Text 4"/>
          <p:cNvSpPr/>
          <p:nvPr/>
        </p:nvSpPr>
        <p:spPr>
          <a:xfrm>
            <a:off x="381030" y="1362090"/>
            <a:ext cx="10477470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집계 기간: 2026.08.01 – 2026.08.31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1030" y="2095530"/>
            <a:ext cx="5627492" cy="462046"/>
          </a:xfrm>
          <a:prstGeom prst="roundRect">
            <a:avLst>
              <a:gd name="adj" fmla="val 49891"/>
            </a:avLst>
          </a:prstGeom>
          <a:solidFill>
            <a:srgbClr val="14366B"/>
          </a:solidFill>
          <a:ln/>
        </p:spPr>
      </p:sp>
      <p:sp>
        <p:nvSpPr>
          <p:cNvPr id="8" name="Text 6"/>
          <p:cNvSpPr/>
          <p:nvPr/>
        </p:nvSpPr>
        <p:spPr>
          <a:xfrm>
            <a:off x="381030" y="2095530"/>
            <a:ext cx="5627492" cy="462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7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도달</a:t>
            </a:r>
            <a:endParaRPr lang="en-US" sz="1870" dirty="0"/>
          </a:p>
        </p:txBody>
      </p:sp>
      <p:sp>
        <p:nvSpPr>
          <p:cNvPr id="9" name="Shape 7"/>
          <p:cNvSpPr/>
          <p:nvPr/>
        </p:nvSpPr>
        <p:spPr>
          <a:xfrm>
            <a:off x="381030" y="2606772"/>
            <a:ext cx="5627492" cy="3067538"/>
          </a:xfrm>
          <a:prstGeom prst="roundRect">
            <a:avLst>
              <a:gd name="adj" fmla="val 58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10636" y="2762585"/>
            <a:ext cx="5168189" cy="218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10636" y="2981310"/>
            <a:ext cx="5168189" cy="340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40" b="1" spc="-10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</a:t>
            </a:r>
            <a:pPr indent="0" marL="0">
              <a:buNone/>
            </a:pPr>
            <a:r>
              <a:rPr lang="en-US" sz="1220" b="1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회</a:t>
            </a:r>
            <a:endParaRPr lang="en-US" sz="2440" dirty="0"/>
          </a:p>
        </p:txBody>
      </p:sp>
      <p:sp>
        <p:nvSpPr>
          <p:cNvPr id="12" name="Text 10"/>
          <p:cNvSpPr/>
          <p:nvPr/>
        </p:nvSpPr>
        <p:spPr>
          <a:xfrm>
            <a:off x="610636" y="3395990"/>
            <a:ext cx="5168189" cy="20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b="1" spc="-80" kern="0" dirty="0">
                <a:solidFill>
                  <a:srgbClr val="1E5B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전월 31만 회 · 전월 대비 35% 성장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0636" y="3747760"/>
            <a:ext cx="5168189" cy="1762415"/>
          </a:xfrm>
          <a:prstGeom prst="roundRect">
            <a:avLst>
              <a:gd name="adj" fmla="val 5406"/>
            </a:avLst>
          </a:prstGeom>
          <a:solidFill>
            <a:srgbClr val="F5F7FA"/>
          </a:solidFill>
          <a:ln/>
        </p:spPr>
      </p:sp>
      <p:sp>
        <p:nvSpPr>
          <p:cNvPr id="14" name="Text 12"/>
          <p:cNvSpPr/>
          <p:nvPr/>
        </p:nvSpPr>
        <p:spPr>
          <a:xfrm>
            <a:off x="807507" y="3911803"/>
            <a:ext cx="3100913" cy="246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9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조회수 추이</a:t>
            </a:r>
            <a:endParaRPr lang="en-US" sz="1290" dirty="0"/>
          </a:p>
        </p:txBody>
      </p:sp>
      <p:sp>
        <p:nvSpPr>
          <p:cNvPr id="15" name="Text 13"/>
          <p:cNvSpPr/>
          <p:nvPr/>
        </p:nvSpPr>
        <p:spPr>
          <a:xfrm>
            <a:off x="3194731" y="3911803"/>
            <a:ext cx="2387224" cy="246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15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단위 : 만 회</a:t>
            </a:r>
            <a:endParaRPr lang="en-US" sz="11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689366" y="4157868"/>
          <a:ext cx="5010729" cy="1253917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6183447" y="2095530"/>
            <a:ext cx="5627492" cy="462046"/>
          </a:xfrm>
          <a:prstGeom prst="roundRect">
            <a:avLst>
              <a:gd name="adj" fmla="val 49891"/>
            </a:avLst>
          </a:prstGeom>
          <a:solidFill>
            <a:srgbClr val="14366B"/>
          </a:solidFill>
          <a:ln/>
        </p:spPr>
      </p:sp>
      <p:sp>
        <p:nvSpPr>
          <p:cNvPr id="18" name="Text 15"/>
          <p:cNvSpPr/>
          <p:nvPr/>
        </p:nvSpPr>
        <p:spPr>
          <a:xfrm>
            <a:off x="6183447" y="2095530"/>
            <a:ext cx="5627492" cy="462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7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 성과</a:t>
            </a:r>
            <a:endParaRPr lang="en-US" sz="1870" dirty="0"/>
          </a:p>
        </p:txBody>
      </p:sp>
      <p:sp>
        <p:nvSpPr>
          <p:cNvPr id="19" name="Shape 16"/>
          <p:cNvSpPr/>
          <p:nvPr/>
        </p:nvSpPr>
        <p:spPr>
          <a:xfrm>
            <a:off x="6183447" y="2606772"/>
            <a:ext cx="5627492" cy="3067538"/>
          </a:xfrm>
          <a:prstGeom prst="roundRect">
            <a:avLst>
              <a:gd name="adj" fmla="val 58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413144" y="2925897"/>
            <a:ext cx="5168189" cy="21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10" b="1" spc="-80" kern="0" dirty="0">
                <a:solidFill>
                  <a:srgbClr val="515B7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 전체</a:t>
            </a:r>
            <a:endParaRPr lang="en-US" sz="1210" dirty="0"/>
          </a:p>
        </p:txBody>
      </p:sp>
      <p:sp>
        <p:nvSpPr>
          <p:cNvPr id="21" name="Text 18"/>
          <p:cNvSpPr/>
          <p:nvPr/>
        </p:nvSpPr>
        <p:spPr>
          <a:xfrm>
            <a:off x="6413144" y="3213019"/>
            <a:ext cx="5168189" cy="738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25000"/>
              </a:lnSpc>
              <a:spcAft>
                <a:spcPts val="2196"/>
              </a:spcAft>
              <a:buSzPct val="100000"/>
              <a:buChar char="•"/>
            </a:pPr>
            <a:r>
              <a:rPr lang="en-US" sz="129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구독자 1,200명 증가해 2.8만 명 달성</a:t>
            </a:r>
            <a:endParaRPr lang="en-US" sz="1290" dirty="0"/>
          </a:p>
          <a:p>
            <a:pPr algn="l" marL="177800" indent="-177800">
              <a:lnSpc>
                <a:spcPct val="125000"/>
              </a:lnSpc>
              <a:buSzPct val="100000"/>
              <a:buChar char="•"/>
            </a:pPr>
            <a:r>
              <a:rPr lang="en-US" sz="129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상세페이지 유입의 38%가 유튜브를 경유</a:t>
            </a:r>
            <a:endParaRPr lang="en-US" sz="1290" dirty="0"/>
          </a:p>
        </p:txBody>
      </p:sp>
      <p:sp>
        <p:nvSpPr>
          <p:cNvPr id="22" name="Shape 19"/>
          <p:cNvSpPr/>
          <p:nvPr/>
        </p:nvSpPr>
        <p:spPr>
          <a:xfrm>
            <a:off x="6413144" y="3951214"/>
            <a:ext cx="5168189" cy="9510"/>
          </a:xfrm>
          <a:prstGeom prst="rect">
            <a:avLst/>
          </a:prstGeom>
          <a:solidFill>
            <a:srgbClr val="E6E9EE"/>
          </a:solidFill>
          <a:ln/>
        </p:spPr>
      </p:sp>
      <p:sp>
        <p:nvSpPr>
          <p:cNvPr id="23" name="Text 20"/>
          <p:cNvSpPr/>
          <p:nvPr/>
        </p:nvSpPr>
        <p:spPr>
          <a:xfrm>
            <a:off x="6413144" y="4124767"/>
            <a:ext cx="5168189" cy="21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10" b="1" spc="-80" kern="0" dirty="0">
                <a:solidFill>
                  <a:srgbClr val="515B7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</a:t>
            </a:r>
            <a:endParaRPr lang="en-US" sz="1210" dirty="0"/>
          </a:p>
        </p:txBody>
      </p:sp>
      <p:sp>
        <p:nvSpPr>
          <p:cNvPr id="24" name="Text 21"/>
          <p:cNvSpPr/>
          <p:nvPr/>
        </p:nvSpPr>
        <p:spPr>
          <a:xfrm>
            <a:off x="6413144" y="4411889"/>
            <a:ext cx="5168189" cy="10991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25000"/>
              </a:lnSpc>
              <a:spcAft>
                <a:spcPts val="1679"/>
              </a:spcAft>
              <a:buSzPct val="100000"/>
              <a:buChar char="•"/>
            </a:pPr>
            <a:r>
              <a:rPr lang="en-US" sz="129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신제품 미니 제습기 언박싱 영상 *8월 7일 게시</a:t>
            </a:r>
            <a:endParaRPr lang="en-US" sz="1290" dirty="0"/>
          </a:p>
          <a:p>
            <a:pPr algn="l" marL="177800" indent="-177800">
              <a:lnSpc>
                <a:spcPct val="125000"/>
              </a:lnSpc>
              <a:spcAft>
                <a:spcPts val="1679"/>
              </a:spcAft>
              <a:buSzPct val="100000"/>
              <a:buChar char="•"/>
            </a:pPr>
            <a:r>
              <a:rPr lang="en-US" sz="129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 12만 회로 채널 역대 2위 기록</a:t>
            </a:r>
            <a:endParaRPr lang="en-US" sz="1290" dirty="0"/>
          </a:p>
          <a:p>
            <a:pPr algn="l" marL="177800" indent="-177800">
              <a:lnSpc>
                <a:spcPct val="125000"/>
              </a:lnSpc>
              <a:buSzPct val="100000"/>
              <a:buChar char="•"/>
            </a:pPr>
            <a:r>
              <a:rPr lang="en-US" sz="129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좋아요 4,300개, 구매 전환 214건 달성</a:t>
            </a:r>
            <a:endParaRPr lang="en-US" sz="1290" dirty="0"/>
          </a:p>
        </p:txBody>
      </p:sp>
      <p:sp>
        <p:nvSpPr>
          <p:cNvPr id="25" name="Shape 22"/>
          <p:cNvSpPr/>
          <p:nvPr/>
        </p:nvSpPr>
        <p:spPr>
          <a:xfrm>
            <a:off x="381030" y="5783671"/>
            <a:ext cx="11430000" cy="655259"/>
          </a:xfrm>
          <a:prstGeom prst="roundRect">
            <a:avLst>
              <a:gd name="adj" fmla="val 20346"/>
            </a:avLst>
          </a:prstGeom>
          <a:solidFill>
            <a:srgbClr val="1C2B55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14294" y="5893034"/>
            <a:ext cx="563453" cy="436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10" b="1" spc="-80" kern="0" dirty="0">
                <a:solidFill>
                  <a:srgbClr val="AAC1E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특이사항</a:t>
            </a:r>
            <a:endParaRPr lang="en-US" sz="1210" dirty="0"/>
          </a:p>
        </p:txBody>
      </p:sp>
      <p:sp>
        <p:nvSpPr>
          <p:cNvPr id="27" name="Text 24"/>
          <p:cNvSpPr/>
          <p:nvPr/>
        </p:nvSpPr>
        <p:spPr>
          <a:xfrm>
            <a:off x="1411011" y="5893034"/>
            <a:ext cx="10166665" cy="436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lnSpc>
                <a:spcPct val="125000"/>
              </a:lnSpc>
              <a:spcAft>
                <a:spcPts val="452"/>
              </a:spcAft>
              <a:buSzPct val="100000"/>
              <a:buChar char="•"/>
            </a:pPr>
            <a:r>
              <a:rPr lang="en-US" sz="1150" spc="-80" kern="0" dirty="0">
                <a:solidFill>
                  <a:srgbClr val="8297B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장마가 끝난 직후 습기 고민이 정점에 달하는 타이밍에 게시된 점과 실사용 비교 중심의 구성이 주효</a:t>
            </a:r>
            <a:endParaRPr lang="en-US" sz="1150" dirty="0"/>
          </a:p>
          <a:p>
            <a:pPr algn="l" marL="177800" indent="-177800">
              <a:lnSpc>
                <a:spcPct val="125000"/>
              </a:lnSpc>
              <a:buSzPct val="100000"/>
              <a:buChar char="•"/>
            </a:pPr>
            <a:r>
              <a:rPr lang="en-US" sz="1150" spc="-80" kern="0" dirty="0">
                <a:solidFill>
                  <a:srgbClr val="8297B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유튜브가 구매 여정에서 차지하는 비중 확인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C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30" y="285750"/>
            <a:ext cx="10668030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3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채널별 성과</a:t>
            </a:r>
            <a:endParaRPr lang="en-US" sz="1130" dirty="0"/>
          </a:p>
        </p:txBody>
      </p:sp>
      <p:sp>
        <p:nvSpPr>
          <p:cNvPr id="3" name="Text 1"/>
          <p:cNvSpPr/>
          <p:nvPr/>
        </p:nvSpPr>
        <p:spPr>
          <a:xfrm>
            <a:off x="11048970" y="285750"/>
            <a:ext cx="761970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980" spc="-80" kern="0" dirty="0">
                <a:solidFill>
                  <a:srgbClr val="8B95A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381030" y="581010"/>
            <a:ext cx="1047747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spc="-80" kern="0" dirty="0">
                <a:solidFill>
                  <a:srgbClr val="10141C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릴스 중심 운영으로 </a:t>
            </a:r>
            <a:pPr algn="l" indent="0" marL="0">
              <a:buNone/>
            </a:pPr>
            <a:r>
              <a:rPr lang="en-US" sz="3150" spc="-80" kern="0" dirty="0">
                <a:solidFill>
                  <a:srgbClr val="10141C"/>
                </a:solidFill>
                <a:latin typeface="Paperlogy 8 ExtraBold" pitchFamily="34" charset="0"/>
                <a:ea typeface="Paperlogy 8 ExtraBold" pitchFamily="34" charset="-122"/>
                <a:cs typeface="Paperlogy 8 ExtraBold" pitchFamily="34" charset="-120"/>
              </a:rPr>
              <a:t>도달 58만 명</a:t>
            </a:r>
            <a:pPr algn="l" indent="0" marL="0">
              <a:buNone/>
            </a:pPr>
            <a:r>
              <a:rPr lang="en-US" sz="3150" spc="-80" kern="0" dirty="0">
                <a:solidFill>
                  <a:srgbClr val="10141C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, 팔로워 </a:t>
            </a:r>
            <a:pPr algn="l" indent="0" marL="0">
              <a:buNone/>
            </a:pPr>
            <a:r>
              <a:rPr lang="en-US" sz="3150" spc="-80" kern="0" dirty="0">
                <a:solidFill>
                  <a:srgbClr val="10141C"/>
                </a:solidFill>
                <a:latin typeface="Paperlogy 8 ExtraBold" pitchFamily="34" charset="0"/>
                <a:ea typeface="Paperlogy 8 ExtraBold" pitchFamily="34" charset="-122"/>
                <a:cs typeface="Paperlogy 8 ExtraBold" pitchFamily="34" charset="-120"/>
              </a:rPr>
              <a:t>월 2,100명 순증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381030" y="1104870"/>
            <a:ext cx="11430000" cy="9510"/>
          </a:xfrm>
          <a:prstGeom prst="rect">
            <a:avLst/>
          </a:prstGeom>
          <a:solidFill>
            <a:srgbClr val="CFD4DC"/>
          </a:solidFill>
          <a:ln/>
        </p:spPr>
      </p:sp>
      <p:sp>
        <p:nvSpPr>
          <p:cNvPr id="6" name="Text 4"/>
          <p:cNvSpPr/>
          <p:nvPr/>
        </p:nvSpPr>
        <p:spPr>
          <a:xfrm>
            <a:off x="381030" y="1362090"/>
            <a:ext cx="10477470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집계 기간: 2026.08.01 – 2026.08.31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1030" y="2095530"/>
            <a:ext cx="5627492" cy="462046"/>
          </a:xfrm>
          <a:prstGeom prst="roundRect">
            <a:avLst>
              <a:gd name="adj" fmla="val 49891"/>
            </a:avLst>
          </a:prstGeom>
          <a:solidFill>
            <a:srgbClr val="14366B"/>
          </a:solidFill>
          <a:ln/>
        </p:spPr>
      </p:sp>
      <p:sp>
        <p:nvSpPr>
          <p:cNvPr id="8" name="Text 6"/>
          <p:cNvSpPr/>
          <p:nvPr/>
        </p:nvSpPr>
        <p:spPr>
          <a:xfrm>
            <a:off x="381030" y="2095530"/>
            <a:ext cx="5627492" cy="462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7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도달</a:t>
            </a:r>
            <a:endParaRPr lang="en-US" sz="1870" dirty="0"/>
          </a:p>
        </p:txBody>
      </p:sp>
      <p:sp>
        <p:nvSpPr>
          <p:cNvPr id="9" name="Shape 7"/>
          <p:cNvSpPr/>
          <p:nvPr/>
        </p:nvSpPr>
        <p:spPr>
          <a:xfrm>
            <a:off x="381030" y="2606772"/>
            <a:ext cx="5627492" cy="3067538"/>
          </a:xfrm>
          <a:prstGeom prst="roundRect">
            <a:avLst>
              <a:gd name="adj" fmla="val 58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10636" y="2762585"/>
            <a:ext cx="5168189" cy="218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도달 계정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10636" y="2981310"/>
            <a:ext cx="5168189" cy="340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40" b="1" spc="-10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</a:t>
            </a:r>
            <a:pPr indent="0" marL="0">
              <a:buNone/>
            </a:pPr>
            <a:r>
              <a:rPr lang="en-US" sz="1220" b="1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명</a:t>
            </a:r>
            <a:endParaRPr lang="en-US" sz="2440" dirty="0"/>
          </a:p>
        </p:txBody>
      </p:sp>
      <p:sp>
        <p:nvSpPr>
          <p:cNvPr id="12" name="Text 10"/>
          <p:cNvSpPr/>
          <p:nvPr/>
        </p:nvSpPr>
        <p:spPr>
          <a:xfrm>
            <a:off x="610636" y="3395990"/>
            <a:ext cx="5168189" cy="20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b="1" spc="-80" kern="0" dirty="0">
                <a:solidFill>
                  <a:srgbClr val="1E5B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전월 49만 명 · 전월 대비 18% 성장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0636" y="3747760"/>
            <a:ext cx="5168189" cy="1762415"/>
          </a:xfrm>
          <a:prstGeom prst="roundRect">
            <a:avLst>
              <a:gd name="adj" fmla="val 5406"/>
            </a:avLst>
          </a:prstGeom>
          <a:solidFill>
            <a:srgbClr val="F5F7FA"/>
          </a:solidFill>
          <a:ln/>
        </p:spPr>
      </p:sp>
      <p:sp>
        <p:nvSpPr>
          <p:cNvPr id="14" name="Text 12"/>
          <p:cNvSpPr/>
          <p:nvPr/>
        </p:nvSpPr>
        <p:spPr>
          <a:xfrm>
            <a:off x="807507" y="3911803"/>
            <a:ext cx="3100913" cy="246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9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도달 추이</a:t>
            </a:r>
            <a:endParaRPr lang="en-US" sz="1290" dirty="0"/>
          </a:p>
        </p:txBody>
      </p:sp>
      <p:sp>
        <p:nvSpPr>
          <p:cNvPr id="15" name="Text 13"/>
          <p:cNvSpPr/>
          <p:nvPr/>
        </p:nvSpPr>
        <p:spPr>
          <a:xfrm>
            <a:off x="3194731" y="3911803"/>
            <a:ext cx="2387224" cy="246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150" spc="-8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단위 : 만 명</a:t>
            </a:r>
            <a:endParaRPr lang="en-US" sz="11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689366" y="4157868"/>
          <a:ext cx="5010729" cy="1253917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6183447" y="2095530"/>
            <a:ext cx="5627492" cy="462046"/>
          </a:xfrm>
          <a:prstGeom prst="roundRect">
            <a:avLst>
              <a:gd name="adj" fmla="val 49891"/>
            </a:avLst>
          </a:prstGeom>
          <a:solidFill>
            <a:srgbClr val="14366B"/>
          </a:solidFill>
          <a:ln/>
        </p:spPr>
      </p:sp>
      <p:sp>
        <p:nvSpPr>
          <p:cNvPr id="18" name="Text 15"/>
          <p:cNvSpPr/>
          <p:nvPr/>
        </p:nvSpPr>
        <p:spPr>
          <a:xfrm>
            <a:off x="6183447" y="2095530"/>
            <a:ext cx="5627492" cy="462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7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 성과</a:t>
            </a:r>
            <a:endParaRPr lang="en-US" sz="1870" dirty="0"/>
          </a:p>
        </p:txBody>
      </p:sp>
      <p:sp>
        <p:nvSpPr>
          <p:cNvPr id="19" name="Shape 16"/>
          <p:cNvSpPr/>
          <p:nvPr/>
        </p:nvSpPr>
        <p:spPr>
          <a:xfrm>
            <a:off x="6183447" y="2606772"/>
            <a:ext cx="5627492" cy="3067538"/>
          </a:xfrm>
          <a:prstGeom prst="roundRect">
            <a:avLst>
              <a:gd name="adj" fmla="val 58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413144" y="2925897"/>
            <a:ext cx="5168189" cy="21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10" b="1" spc="-80" kern="0" dirty="0">
                <a:solidFill>
                  <a:srgbClr val="515B7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 전체</a:t>
            </a:r>
            <a:endParaRPr lang="en-US" sz="1210" dirty="0"/>
          </a:p>
        </p:txBody>
      </p:sp>
      <p:sp>
        <p:nvSpPr>
          <p:cNvPr id="21" name="Text 18"/>
          <p:cNvSpPr/>
          <p:nvPr/>
        </p:nvSpPr>
        <p:spPr>
          <a:xfrm>
            <a:off x="6413144" y="3213019"/>
            <a:ext cx="5168189" cy="738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25000"/>
              </a:lnSpc>
              <a:spcAft>
                <a:spcPts val="2196"/>
              </a:spcAft>
              <a:buSzPct val="100000"/>
              <a:buChar char="•"/>
            </a:pPr>
            <a:r>
              <a:rPr lang="en-US" sz="129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 2,100명 순증 · 누적 3.6만 명</a:t>
            </a:r>
            <a:endParaRPr lang="en-US" sz="1290" dirty="0"/>
          </a:p>
          <a:p>
            <a:pPr algn="l" marL="177800" indent="-177800">
              <a:lnSpc>
                <a:spcPct val="125000"/>
              </a:lnSpc>
              <a:buSzPct val="100000"/>
              <a:buChar char="•"/>
            </a:pPr>
            <a:r>
              <a:rPr lang="en-US" sz="129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→ 스토어 클릭 5,800건</a:t>
            </a:r>
            <a:endParaRPr lang="en-US" sz="1290" dirty="0"/>
          </a:p>
        </p:txBody>
      </p:sp>
      <p:sp>
        <p:nvSpPr>
          <p:cNvPr id="22" name="Shape 19"/>
          <p:cNvSpPr/>
          <p:nvPr/>
        </p:nvSpPr>
        <p:spPr>
          <a:xfrm>
            <a:off x="6413144" y="3951214"/>
            <a:ext cx="5168189" cy="9510"/>
          </a:xfrm>
          <a:prstGeom prst="rect">
            <a:avLst/>
          </a:prstGeom>
          <a:solidFill>
            <a:srgbClr val="E6E9EE"/>
          </a:solidFill>
          <a:ln/>
        </p:spPr>
      </p:sp>
      <p:sp>
        <p:nvSpPr>
          <p:cNvPr id="23" name="Text 20"/>
          <p:cNvSpPr/>
          <p:nvPr/>
        </p:nvSpPr>
        <p:spPr>
          <a:xfrm>
            <a:off x="6413144" y="4124767"/>
            <a:ext cx="5168189" cy="21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10" b="1" spc="-80" kern="0" dirty="0">
                <a:solidFill>
                  <a:srgbClr val="515B7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</a:t>
            </a:r>
            <a:endParaRPr lang="en-US" sz="1210" dirty="0"/>
          </a:p>
        </p:txBody>
      </p:sp>
      <p:sp>
        <p:nvSpPr>
          <p:cNvPr id="24" name="Text 21"/>
          <p:cNvSpPr/>
          <p:nvPr/>
        </p:nvSpPr>
        <p:spPr>
          <a:xfrm>
            <a:off x="6413144" y="4411889"/>
            <a:ext cx="5168189" cy="10991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25000"/>
              </a:lnSpc>
              <a:spcAft>
                <a:spcPts val="1679"/>
              </a:spcAft>
              <a:buSzPct val="100000"/>
              <a:buChar char="•"/>
            </a:pPr>
            <a:r>
              <a:rPr lang="en-US" sz="1290" b="1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‘장마 끝, 곰팡이 전쟁’ 릴스 *8월 12일 게시</a:t>
            </a:r>
            <a:endParaRPr lang="en-US" sz="1290" dirty="0"/>
          </a:p>
          <a:p>
            <a:pPr algn="l" marL="177800" indent="-177800">
              <a:lnSpc>
                <a:spcPct val="125000"/>
              </a:lnSpc>
              <a:spcAft>
                <a:spcPts val="1679"/>
              </a:spcAft>
              <a:buSzPct val="100000"/>
              <a:buChar char="•"/>
            </a:pPr>
            <a:r>
              <a:rPr lang="en-US" sz="129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 31만 회 · 저장 4,900건</a:t>
            </a:r>
            <a:endParaRPr lang="en-US" sz="1290" dirty="0"/>
          </a:p>
          <a:p>
            <a:pPr algn="l" marL="177800" indent="-177800">
              <a:lnSpc>
                <a:spcPct val="125000"/>
              </a:lnSpc>
              <a:buSzPct val="100000"/>
              <a:buChar char="•"/>
            </a:pPr>
            <a:r>
              <a:rPr lang="en-US" sz="1290" spc="-80" kern="0" dirty="0">
                <a:solidFill>
                  <a:srgbClr val="1A24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댓글 참여율 6.2%로 채널 최고</a:t>
            </a:r>
            <a:endParaRPr lang="en-US" sz="1290" dirty="0"/>
          </a:p>
        </p:txBody>
      </p:sp>
      <p:sp>
        <p:nvSpPr>
          <p:cNvPr id="25" name="Shape 22"/>
          <p:cNvSpPr/>
          <p:nvPr/>
        </p:nvSpPr>
        <p:spPr>
          <a:xfrm>
            <a:off x="381030" y="5783671"/>
            <a:ext cx="11430000" cy="655259"/>
          </a:xfrm>
          <a:prstGeom prst="roundRect">
            <a:avLst>
              <a:gd name="adj" fmla="val 20346"/>
            </a:avLst>
          </a:prstGeom>
          <a:solidFill>
            <a:srgbClr val="1C2B55"/>
          </a:solidFill>
          <a:ln/>
          <a:effectLst>
            <a:outerShdw sx="100000" sy="100000" kx="0" ky="0" algn="bl" rotWithShape="0" blurRad="76200" dist="19050" dir="5400000">
              <a:srgbClr val="14285A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14294" y="5893034"/>
            <a:ext cx="563453" cy="436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10" b="1" spc="-80" kern="0" dirty="0">
                <a:solidFill>
                  <a:srgbClr val="AAC1E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특이사항</a:t>
            </a:r>
            <a:endParaRPr lang="en-US" sz="1210" dirty="0"/>
          </a:p>
        </p:txBody>
      </p:sp>
      <p:sp>
        <p:nvSpPr>
          <p:cNvPr id="27" name="Text 24"/>
          <p:cNvSpPr/>
          <p:nvPr/>
        </p:nvSpPr>
        <p:spPr>
          <a:xfrm>
            <a:off x="1411011" y="5893034"/>
            <a:ext cx="10166665" cy="436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lnSpc>
                <a:spcPct val="125000"/>
              </a:lnSpc>
              <a:spcAft>
                <a:spcPts val="452"/>
              </a:spcAft>
              <a:buSzPct val="100000"/>
              <a:buChar char="•"/>
            </a:pPr>
            <a:r>
              <a:rPr lang="en-US" sz="1150" spc="-80" kern="0" dirty="0">
                <a:solidFill>
                  <a:srgbClr val="8297B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저장·공유 중심의 실용 정보형 릴스가 도달 확대를 견인</a:t>
            </a:r>
            <a:endParaRPr lang="en-US" sz="1150" dirty="0"/>
          </a:p>
          <a:p>
            <a:pPr algn="l" marL="177800" indent="-177800">
              <a:lnSpc>
                <a:spcPct val="125000"/>
              </a:lnSpc>
              <a:buSzPct val="100000"/>
              <a:buChar char="•"/>
            </a:pPr>
            <a:r>
              <a:rPr lang="en-US" sz="1150" spc="-80" kern="0" dirty="0">
                <a:solidFill>
                  <a:srgbClr val="8297B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[입력 필요: 9월 협업 크리에이터 일정]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로고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925160" y="285750"/>
            <a:ext cx="761970" cy="19047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750308" y="2119305"/>
            <a:ext cx="704820" cy="238110"/>
          </a:xfrm>
          <a:prstGeom prst="roundRect">
            <a:avLst>
              <a:gd name="adj" fmla="val 12020"/>
            </a:avLst>
          </a:prstGeom>
          <a:solidFill>
            <a:srgbClr val="C8A24B"/>
          </a:solidFill>
          <a:ln/>
        </p:spPr>
      </p:sp>
      <p:sp>
        <p:nvSpPr>
          <p:cNvPr id="4" name="Text 1"/>
          <p:cNvSpPr/>
          <p:nvPr/>
        </p:nvSpPr>
        <p:spPr>
          <a:xfrm>
            <a:off x="4750308" y="2119305"/>
            <a:ext cx="70482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b="1" spc="-80" kern="0" dirty="0">
                <a:solidFill>
                  <a:srgbClr val="1436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 보고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550408" y="2119305"/>
            <a:ext cx="208181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80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브리즈홈 마케팅 월간 보고</a:t>
            </a:r>
            <a:endParaRPr lang="en-US" sz="1280" dirty="0"/>
          </a:p>
        </p:txBody>
      </p:sp>
      <p:sp>
        <p:nvSpPr>
          <p:cNvPr id="6" name="Text 3"/>
          <p:cNvSpPr/>
          <p:nvPr/>
        </p:nvSpPr>
        <p:spPr>
          <a:xfrm>
            <a:off x="381030" y="2605126"/>
            <a:ext cx="1143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spc="-300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2"/>
                <a:cs typeface="Paperlogy 8 ExtraBold" pitchFamily="34" charset="-120"/>
              </a:rPr>
              <a:t>감사합니다</a:t>
            </a: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381030" y="3671865"/>
            <a:ext cx="1143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브리즈홈 마케팅팀 · 2026년 8월 성과 보고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381280" y="4167195"/>
            <a:ext cx="7429500" cy="95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6"/>
          <p:cNvSpPr/>
          <p:nvPr/>
        </p:nvSpPr>
        <p:spPr>
          <a:xfrm>
            <a:off x="2381280" y="4357665"/>
            <a:ext cx="2476470" cy="13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680" b="1" spc="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</a:t>
            </a:r>
            <a:endParaRPr lang="en-US" sz="680" dirty="0"/>
          </a:p>
        </p:txBody>
      </p:sp>
      <p:sp>
        <p:nvSpPr>
          <p:cNvPr id="10" name="Text 7"/>
          <p:cNvSpPr/>
          <p:nvPr/>
        </p:nvSpPr>
        <p:spPr>
          <a:xfrm>
            <a:off x="2381280" y="4519605"/>
            <a:ext cx="24764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3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마케팅팀</a:t>
            </a:r>
            <a:endParaRPr lang="en-US" sz="1130" dirty="0"/>
          </a:p>
        </p:txBody>
      </p:sp>
      <p:sp>
        <p:nvSpPr>
          <p:cNvPr id="11" name="Text 8"/>
          <p:cNvSpPr/>
          <p:nvPr/>
        </p:nvSpPr>
        <p:spPr>
          <a:xfrm>
            <a:off x="4857750" y="4357665"/>
            <a:ext cx="2476470" cy="13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680" b="1" spc="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집계 기간</a:t>
            </a:r>
            <a:endParaRPr lang="en-US" sz="680" dirty="0"/>
          </a:p>
        </p:txBody>
      </p:sp>
      <p:sp>
        <p:nvSpPr>
          <p:cNvPr id="12" name="Text 9"/>
          <p:cNvSpPr/>
          <p:nvPr/>
        </p:nvSpPr>
        <p:spPr>
          <a:xfrm>
            <a:off x="4857750" y="4519605"/>
            <a:ext cx="24764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3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2026.08.01 – 2026.08.31</a:t>
            </a:r>
            <a:endParaRPr lang="en-US" sz="1130" dirty="0"/>
          </a:p>
        </p:txBody>
      </p:sp>
      <p:sp>
        <p:nvSpPr>
          <p:cNvPr id="13" name="Text 10"/>
          <p:cNvSpPr/>
          <p:nvPr/>
        </p:nvSpPr>
        <p:spPr>
          <a:xfrm>
            <a:off x="7334220" y="4357665"/>
            <a:ext cx="2476470" cy="13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680" b="1" spc="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en-US" sz="680" dirty="0"/>
          </a:p>
        </p:txBody>
      </p:sp>
      <p:sp>
        <p:nvSpPr>
          <p:cNvPr id="14" name="Text 11"/>
          <p:cNvSpPr/>
          <p:nvPr/>
        </p:nvSpPr>
        <p:spPr>
          <a:xfrm>
            <a:off x="7334220" y="4519605"/>
            <a:ext cx="24764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30" b="1" spc="-8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marketing@example.com</a:t>
            </a:r>
            <a:endParaRPr lang="en-US" sz="11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브리즈홈 8월 마케팅 성과 보고</dc:title>
  <dc:subject>PptxGenJS Presentation</dc:subject>
  <dc:creator>브리즈홈</dc:creator>
  <cp:lastModifiedBy>브리즈홈</cp:lastModifiedBy>
  <cp:revision>1</cp:revision>
  <dcterms:created xsi:type="dcterms:W3CDTF">2026-09-21T06:19:09Z</dcterms:created>
  <dcterms:modified xsi:type="dcterms:W3CDTF">2026-09-21T06:19:09Z</dcterms:modified>
</cp:coreProperties>
</file>